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1" r:id="rId11"/>
    <p:sldId id="262" r:id="rId12"/>
    <p:sldId id="267" r:id="rId13"/>
    <p:sldId id="269" r:id="rId14"/>
    <p:sldId id="268" r:id="rId15"/>
    <p:sldId id="301" r:id="rId16"/>
    <p:sldId id="270" r:id="rId17"/>
    <p:sldId id="272" r:id="rId18"/>
    <p:sldId id="271" r:id="rId19"/>
    <p:sldId id="273" r:id="rId20"/>
    <p:sldId id="274" r:id="rId21"/>
    <p:sldId id="276" r:id="rId22"/>
    <p:sldId id="277" r:id="rId23"/>
    <p:sldId id="278" r:id="rId24"/>
    <p:sldId id="279" r:id="rId25"/>
    <p:sldId id="275" r:id="rId26"/>
    <p:sldId id="280" r:id="rId27"/>
    <p:sldId id="281" r:id="rId28"/>
    <p:sldId id="282" r:id="rId29"/>
    <p:sldId id="283" r:id="rId30"/>
    <p:sldId id="285" r:id="rId31"/>
    <p:sldId id="284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27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3658F-80CD-3E49-2FA3-233348C3A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6556EA-9997-306A-EF24-463C451ED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6C48E-EDC1-73A0-5E67-0F39199B9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E155-3ADD-45C4-97F2-73FA92393EE0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159CC-7528-ED1B-8A4D-4C86A0B7E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9C3AC-CF60-E319-2CAB-D3C6AB1F0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945A-8A97-4D27-A7AE-8350D1069BB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7969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4D75C-EA00-E95F-59A2-54F0CC5FF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B61E6-8851-3328-A0C1-F7008474C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478C6-B887-066F-A5D0-28DD163E2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E155-3ADD-45C4-97F2-73FA92393EE0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DF0DB-23E9-F43B-F033-1F583327E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C119F-768D-E20D-43A7-B5111CA21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945A-8A97-4D27-A7AE-8350D1069BB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5211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95F1E-CB14-3127-926B-4F593DD44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192B6-786E-84E4-415F-92BC9B93A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881C3-B000-5555-4AFB-08EFAB1F0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E155-3ADD-45C4-97F2-73FA92393EE0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C3674-5C82-C807-8711-A0277A143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D88CE-E410-047D-9D9D-B4F426B4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945A-8A97-4D27-A7AE-8350D1069BB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856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B9236-F5C2-2EAE-8994-F3968A91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F3899-AF98-AA1C-A814-2B026DFC7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526F9-2E65-D5AF-CE64-84D8D1548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3D9A5-1E71-4ECE-7D88-7D29587FC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E155-3ADD-45C4-97F2-73FA92393EE0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10D6F-D413-2A6B-C806-374291D04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7D107-25F6-844D-A8FC-7003EB03A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945A-8A97-4D27-A7AE-8350D1069BB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851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A4748-1C69-EBD6-EE39-9436E14F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17795-5FD1-C65B-789E-32EB0C111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867C1-ABCF-EF50-4121-8F52B515D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3C1422-2FE0-825E-6554-2D7447468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DAEE85-9EFD-01C0-C0DC-DBEBAA91A8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E8D962-FE62-5F39-4360-A7AFE80CF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E155-3ADD-45C4-97F2-73FA92393EE0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E26749-2DD3-8BD3-2E88-F869E0A4D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407A81-D237-5C93-5951-B55FD795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945A-8A97-4D27-A7AE-8350D1069BB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724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2CD2C-FC26-BF55-0F84-C044FCFBB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991FB-1CAD-7117-72BD-DF5411905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E155-3ADD-45C4-97F2-73FA92393EE0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BA490-874D-32AF-D76B-75E5B836E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BF2262-E3BC-8BD2-F11B-CD0A98459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945A-8A97-4D27-A7AE-8350D1069BB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28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4A8D53-B80F-D4A4-2796-209AFA045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E155-3ADD-45C4-97F2-73FA92393EE0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39DCC5-231B-E34B-4E17-F68DBC5D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045EE-9ABB-836C-E652-4EC7F796B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945A-8A97-4D27-A7AE-8350D1069BB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6109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092C2-7F0C-07F5-F5FD-7DBA24501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03628-AF33-01F8-085C-ABB7BB9AE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EDD98-213B-D117-2551-8F469C3AA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8727B-DE4B-207E-F6D6-84595BC0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E155-3ADD-45C4-97F2-73FA92393EE0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2DAF8-CD16-562E-AA16-6C556E464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C86FA-DD2D-F1A6-0685-21AC529D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945A-8A97-4D27-A7AE-8350D1069BB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749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A2B69-64F9-1664-EB9E-38DEEE0E8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DD3F0-42F5-E6D5-C2D3-A6522EB2A5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8830F-A14D-0F87-FA2B-BC47744EB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11F2E-8951-C3F1-72DF-8D52D1064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E155-3ADD-45C4-97F2-73FA92393EE0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184C9-4E78-93AD-32F0-69866F666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F85364-AFD0-800D-E3F6-421DAD382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945A-8A97-4D27-A7AE-8350D1069BB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0440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CA1C8-1891-A6D6-0FAE-F66C134A7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D4F56E-B5CA-2321-8528-6E2CF9197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F720B-E86E-0119-BE7E-5245F118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E155-3ADD-45C4-97F2-73FA92393EE0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F93A9-6A65-547A-1B11-7D71EB3D4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DC9F3-F8E9-A8C3-8CB9-45004CCC8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945A-8A97-4D27-A7AE-8350D1069BB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7018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1CBCC-9633-5DBA-C081-59AF00950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8BD62-B785-EFCA-8351-4B2681E16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A39D6-4BE6-7B0C-2DD0-79CD8C974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E155-3ADD-45C4-97F2-73FA92393EE0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93C1B-E24E-634D-AC58-9383CCA3B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80AB5-BD9E-D775-CE01-1691910F6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6945A-8A97-4D27-A7AE-8350D1069BB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5520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4D470E-91B4-23B6-A9B3-509FB9C9A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86A93-1C82-9844-CB9A-EB0BB46E0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63238-34AB-ADF5-60E5-FE0F413A99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E4E155-3ADD-45C4-97F2-73FA92393EE0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154CA-C21C-CBAA-448E-22019059D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609EF-4A83-0598-CD0E-5033145613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B6945A-8A97-4D27-A7AE-8350D1069BB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3852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github/spec-kit#-what-is-spec-driven-developmen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youtube.com/watch?v=a9eR1xsfvHg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773ED-256A-0431-8A41-67D29B548B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ROMEU 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B26E5-B58B-C8EE-41BE-30BD8D566C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AI – Spec Kit</a:t>
            </a:r>
          </a:p>
        </p:txBody>
      </p:sp>
    </p:spTree>
    <p:extLst>
      <p:ext uri="{BB962C8B-B14F-4D97-AF65-F5344CB8AC3E}">
        <p14:creationId xmlns:p14="http://schemas.microsoft.com/office/powerpoint/2010/main" val="1279157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6A617-7CC1-6C24-C0C7-68E287AF9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2D4A4-5A59-8F40-C52B-AED16EDD9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01 ¿Qué es </a:t>
            </a:r>
            <a:r>
              <a:rPr lang="es-ES" dirty="0" err="1"/>
              <a:t>Spec</a:t>
            </a:r>
            <a:r>
              <a:rPr lang="es-ES" dirty="0"/>
              <a:t>-Kit?</a:t>
            </a:r>
          </a:p>
          <a:p>
            <a:pPr marL="0" indent="0">
              <a:buNone/>
            </a:pPr>
            <a:r>
              <a:rPr lang="es-ES" dirty="0"/>
              <a:t>02 ¿Cómo se instala?</a:t>
            </a:r>
          </a:p>
          <a:p>
            <a:pPr marL="0" indent="0">
              <a:buNone/>
            </a:pPr>
            <a:r>
              <a:rPr lang="es-ES" dirty="0"/>
              <a:t>03 ¿Cómo funciona?</a:t>
            </a:r>
          </a:p>
          <a:p>
            <a:pPr marL="0" indent="0">
              <a:buNone/>
            </a:pPr>
            <a:r>
              <a:rPr lang="es-ES" dirty="0"/>
              <a:t>04 Caso Estudio</a:t>
            </a:r>
          </a:p>
          <a:p>
            <a:pPr marL="0" indent="0">
              <a:buNone/>
            </a:pPr>
            <a:r>
              <a:rPr lang="es-ES" dirty="0"/>
              <a:t>05 El Proceso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5793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978A0B-6FAF-8B32-79EF-78D325706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178" y="1783655"/>
            <a:ext cx="8373644" cy="407726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283C85A-1880-80D8-1A70-E6D9FBC1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SPEC KIT</a:t>
            </a:r>
          </a:p>
        </p:txBody>
      </p:sp>
    </p:spTree>
    <p:extLst>
      <p:ext uri="{BB962C8B-B14F-4D97-AF65-F5344CB8AC3E}">
        <p14:creationId xmlns:p14="http://schemas.microsoft.com/office/powerpoint/2010/main" val="3700692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4D835-F440-5841-F31D-9891584AE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¿Qué es Spec Kit?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05BC4-3277-41DA-BCEB-58BC40B9C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Una herramienta Open-</a:t>
            </a:r>
            <a:r>
              <a:rPr lang="es-ES" dirty="0" err="1"/>
              <a:t>Source</a:t>
            </a:r>
            <a:r>
              <a:rPr lang="es-ES" dirty="0"/>
              <a:t> que permite centrarse en outputs predecibles en lugar del caos del ‘</a:t>
            </a:r>
            <a:r>
              <a:rPr lang="es-ES" i="1" dirty="0" err="1"/>
              <a:t>vibe-coding</a:t>
            </a:r>
            <a:r>
              <a:rPr lang="es-ES" dirty="0"/>
              <a:t>’</a:t>
            </a:r>
          </a:p>
          <a:p>
            <a:r>
              <a:rPr lang="es-ES" dirty="0"/>
              <a:t>Un proceso que emplea el SDD (</a:t>
            </a:r>
            <a:r>
              <a:rPr lang="es-ES" dirty="0" err="1"/>
              <a:t>Specification</a:t>
            </a:r>
            <a:r>
              <a:rPr lang="es-ES" dirty="0"/>
              <a:t> </a:t>
            </a:r>
            <a:r>
              <a:rPr lang="es-ES" dirty="0" err="1"/>
              <a:t>Driven</a:t>
            </a:r>
            <a:r>
              <a:rPr lang="es-ES" dirty="0"/>
              <a:t> </a:t>
            </a:r>
            <a:r>
              <a:rPr lang="es-ES" dirty="0" err="1"/>
              <a:t>Development</a:t>
            </a:r>
            <a:r>
              <a:rPr lang="es-ES" dirty="0"/>
              <a:t>)</a:t>
            </a:r>
          </a:p>
          <a:p>
            <a:r>
              <a:rPr lang="es-ES" dirty="0"/>
              <a:t>Permite utilizar un proceso definido de trabajo para desarrollar especificado en fases</a:t>
            </a:r>
          </a:p>
          <a:p>
            <a:r>
              <a:rPr lang="es-ES" dirty="0"/>
              <a:t>Convive con el agente de desarrollo de código de tu elección (</a:t>
            </a:r>
            <a:r>
              <a:rPr lang="es-ES" dirty="0" err="1"/>
              <a:t>e.g</a:t>
            </a:r>
            <a:r>
              <a:rPr lang="es-ES" dirty="0"/>
              <a:t>.: GitHub </a:t>
            </a:r>
            <a:r>
              <a:rPr lang="es-ES" dirty="0" err="1"/>
              <a:t>Copilot</a:t>
            </a:r>
            <a:r>
              <a:rPr lang="es-ES" dirty="0"/>
              <a:t>, Claude </a:t>
            </a:r>
            <a:r>
              <a:rPr lang="es-ES" dirty="0" err="1"/>
              <a:t>Code</a:t>
            </a:r>
            <a:r>
              <a:rPr lang="es-ES" dirty="0"/>
              <a:t>, </a:t>
            </a:r>
            <a:r>
              <a:rPr lang="es-ES" dirty="0" err="1"/>
              <a:t>OpenCode</a:t>
            </a:r>
            <a:r>
              <a:rPr lang="es-ES" dirty="0"/>
              <a:t>, etc.)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00830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08618-D4F0-EB1E-5CEB-2CD4C4889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¿Cómo se instala?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04423-74BF-E954-5299-9481616F5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Accediendo/clonando repositorio en local: </a:t>
            </a:r>
            <a:r>
              <a:rPr lang="en-US" dirty="0" err="1">
                <a:hlinkClick r:id="rId2"/>
              </a:rPr>
              <a:t>github</a:t>
            </a:r>
            <a:r>
              <a:rPr lang="en-US" dirty="0">
                <a:hlinkClick r:id="rId2"/>
              </a:rPr>
              <a:t>/spec-kit: 💫 Toolkit to help you get started with Spec-Driven Development</a:t>
            </a:r>
            <a:endParaRPr lang="en-US" dirty="0"/>
          </a:p>
          <a:p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5A6F1-FFBE-9174-C2AD-8A1DA4F2A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792" y="2942110"/>
            <a:ext cx="9162553" cy="309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826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8C9594-EEE9-DEEF-B280-60560C2348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953"/>
          <a:stretch>
            <a:fillRect/>
          </a:stretch>
        </p:blipFill>
        <p:spPr>
          <a:xfrm>
            <a:off x="479886" y="1541206"/>
            <a:ext cx="10870447" cy="497512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2CEE67-1D02-F6CD-3628-794A6651FFB9}"/>
              </a:ext>
            </a:extLst>
          </p:cNvPr>
          <p:cNvSpPr/>
          <p:nvPr/>
        </p:nvSpPr>
        <p:spPr>
          <a:xfrm>
            <a:off x="479886" y="1558413"/>
            <a:ext cx="10508669" cy="36379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2DE3A9F-6E90-18CB-29A9-D47B6A288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s-ES" dirty="0"/>
              <a:t>Ejecutamos comando de instalación</a:t>
            </a:r>
          </a:p>
        </p:txBody>
      </p:sp>
    </p:spTree>
    <p:extLst>
      <p:ext uri="{BB962C8B-B14F-4D97-AF65-F5344CB8AC3E}">
        <p14:creationId xmlns:p14="http://schemas.microsoft.com/office/powerpoint/2010/main" val="1883532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9677F-E236-5AA0-7AC0-9207A86F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5DA8A12-33A8-568E-EAAA-8174DEF5A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s-ES" dirty="0"/>
              <a:t>Comprobamos la versión (specify versión)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F4F498-1623-A62A-B349-D44F4DA5F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28" y="1922207"/>
            <a:ext cx="11389544" cy="39574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10B83DA-901B-D817-BF07-54FBCD2D0761}"/>
              </a:ext>
            </a:extLst>
          </p:cNvPr>
          <p:cNvSpPr/>
          <p:nvPr/>
        </p:nvSpPr>
        <p:spPr>
          <a:xfrm>
            <a:off x="401229" y="1922207"/>
            <a:ext cx="3649662" cy="26055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1300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5685A-63A5-4EDF-6D99-FA88BCB1B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6D15579-4530-550B-0837-4A602F2BE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980"/>
            <a:ext cx="10515600" cy="801329"/>
          </a:xfrm>
        </p:spPr>
        <p:txBody>
          <a:bodyPr>
            <a:normAutofit/>
          </a:bodyPr>
          <a:lstStyle/>
          <a:p>
            <a:pPr algn="ctr"/>
            <a:r>
              <a:rPr lang="es-ES" sz="3600" dirty="0"/>
              <a:t>Inicializamos con </a:t>
            </a:r>
            <a:r>
              <a:rPr lang="es-ES" sz="3600" dirty="0" err="1"/>
              <a:t>copilot</a:t>
            </a:r>
            <a:r>
              <a:rPr lang="es-ES" sz="3600" dirty="0"/>
              <a:t> </a:t>
            </a:r>
            <a:r>
              <a:rPr lang="es-ES" sz="2000" dirty="0"/>
              <a:t>(specify </a:t>
            </a:r>
            <a:r>
              <a:rPr lang="es-ES" sz="2000" dirty="0" err="1"/>
              <a:t>init</a:t>
            </a:r>
            <a:r>
              <a:rPr lang="es-ES" sz="2000" dirty="0"/>
              <a:t> . –</a:t>
            </a:r>
            <a:r>
              <a:rPr lang="es-ES" sz="2000" dirty="0" err="1"/>
              <a:t>ai</a:t>
            </a:r>
            <a:r>
              <a:rPr lang="es-ES" sz="2000" dirty="0"/>
              <a:t> </a:t>
            </a:r>
            <a:r>
              <a:rPr lang="es-ES" sz="2000" dirty="0" err="1"/>
              <a:t>copilot</a:t>
            </a:r>
            <a:r>
              <a:rPr lang="es-ES" sz="2000" dirty="0"/>
              <a:t>)</a:t>
            </a:r>
            <a:endParaRPr lang="es-E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621F02-E6E9-67E1-6E93-8DA64C05E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372" y="978309"/>
            <a:ext cx="8633256" cy="567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7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02D548-E8B7-A8D5-3833-5B01931A7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704" y="323416"/>
            <a:ext cx="9078592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364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01D50-5C3D-B19B-326A-16C43811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4818"/>
            <a:ext cx="10515600" cy="1325563"/>
          </a:xfrm>
        </p:spPr>
        <p:txBody>
          <a:bodyPr/>
          <a:lstStyle/>
          <a:p>
            <a:pPr algn="ctr"/>
            <a:r>
              <a:rPr lang="es-ES" dirty="0"/>
              <a:t>Video guía recomendada por los </a:t>
            </a:r>
            <a:r>
              <a:rPr lang="es-ES" dirty="0" err="1"/>
              <a:t>Dev’s</a:t>
            </a:r>
            <a:endParaRPr lang="es-ES" dirty="0"/>
          </a:p>
        </p:txBody>
      </p:sp>
      <p:pic>
        <p:nvPicPr>
          <p:cNvPr id="7" name="Picture 6">
            <a:hlinkClick r:id="rId2"/>
            <a:extLst>
              <a:ext uri="{FF2B5EF4-FFF2-40B4-BE49-F238E27FC236}">
                <a16:creationId xmlns:a16="http://schemas.microsoft.com/office/drawing/2014/main" id="{B7C475E4-679A-24D0-5B1F-5CFCBF3B8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884" y="1460381"/>
            <a:ext cx="7560231" cy="503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50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A0F2B-D1B4-E9A0-6A11-57758497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pPr algn="ctr"/>
            <a:r>
              <a:rPr lang="es-ES" sz="4000" dirty="0"/>
              <a:t>¿Cómo funciona? (Github </a:t>
            </a:r>
            <a:r>
              <a:rPr lang="es-ES" sz="4000" dirty="0" err="1"/>
              <a:t>Copilot</a:t>
            </a:r>
            <a:r>
              <a:rPr lang="es-ES" sz="4000" dirty="0"/>
              <a:t> Visual </a:t>
            </a:r>
            <a:r>
              <a:rPr lang="es-ES" sz="4000" dirty="0" err="1"/>
              <a:t>Code</a:t>
            </a:r>
            <a:r>
              <a:rPr lang="es-ES" sz="40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26E0B-8F73-DB88-5889-AF6581FBF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8246" y="2738713"/>
            <a:ext cx="5651090" cy="2254763"/>
          </a:xfrm>
        </p:spPr>
        <p:txBody>
          <a:bodyPr/>
          <a:lstStyle/>
          <a:p>
            <a:r>
              <a:rPr lang="es-ES" dirty="0"/>
              <a:t>Creación automática de Agentes dentro de GitHub </a:t>
            </a:r>
            <a:r>
              <a:rPr lang="es-ES" dirty="0" err="1"/>
              <a:t>Copilot</a:t>
            </a:r>
            <a:r>
              <a:rPr lang="es-ES" dirty="0"/>
              <a:t>.</a:t>
            </a:r>
          </a:p>
          <a:p>
            <a:r>
              <a:rPr lang="es-ES" dirty="0"/>
              <a:t>Conjunto de Agentes que desencadenan prompts, scripts y plantillas.</a:t>
            </a:r>
          </a:p>
          <a:p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95E539-A833-E057-9996-0C5910F92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84" y="1073047"/>
            <a:ext cx="3763443" cy="5586097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5E483877-B74B-CD73-5BF2-AFEA2822E36A}"/>
              </a:ext>
            </a:extLst>
          </p:cNvPr>
          <p:cNvSpPr/>
          <p:nvPr/>
        </p:nvSpPr>
        <p:spPr>
          <a:xfrm>
            <a:off x="2388082" y="2915950"/>
            <a:ext cx="501445" cy="2792362"/>
          </a:xfrm>
          <a:prstGeom prst="rightBrace">
            <a:avLst>
              <a:gd name="adj1" fmla="val 8333"/>
              <a:gd name="adj2" fmla="val 49648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5199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C2611-445B-DE73-A1A7-E319AD98F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E8B80-6521-64F4-D293-D90008AB4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pPr algn="ctr"/>
            <a:r>
              <a:rPr lang="es-ES" sz="4000" dirty="0"/>
              <a:t>¿Cómo funciona? (Github </a:t>
            </a:r>
            <a:r>
              <a:rPr lang="es-ES" sz="4000" dirty="0" err="1"/>
              <a:t>Copilot</a:t>
            </a:r>
            <a:r>
              <a:rPr lang="es-ES" sz="4000" dirty="0"/>
              <a:t> Visual </a:t>
            </a:r>
            <a:r>
              <a:rPr lang="es-ES" sz="4000" dirty="0" err="1"/>
              <a:t>Code</a:t>
            </a:r>
            <a:r>
              <a:rPr lang="es-ES" sz="40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9BB5B-5395-7480-AD53-E48E03F14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0697" y="5510239"/>
            <a:ext cx="8170606" cy="768394"/>
          </a:xfrm>
        </p:spPr>
        <p:txBody>
          <a:bodyPr>
            <a:normAutofit/>
          </a:bodyPr>
          <a:lstStyle/>
          <a:p>
            <a:r>
              <a:rPr lang="es-ES" sz="3600" dirty="0"/>
              <a:t>Orden, estructura y documentación</a:t>
            </a:r>
          </a:p>
          <a:p>
            <a:endParaRPr lang="es-E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F25396-1714-351A-84AC-380C61FEE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248" y="2088638"/>
            <a:ext cx="2286319" cy="24863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A5AE70-BDF3-6B3B-F799-A7F2CEF41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15" y="2814551"/>
            <a:ext cx="1800476" cy="1228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F5272C-BFA4-D076-2ADA-172D086AE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276" y="1876208"/>
            <a:ext cx="2324424" cy="3105583"/>
          </a:xfrm>
          <a:prstGeom prst="rect">
            <a:avLst/>
          </a:prstGeom>
        </p:spPr>
      </p:pic>
      <p:sp>
        <p:nvSpPr>
          <p:cNvPr id="12" name="Arrow: Notched Right 11">
            <a:extLst>
              <a:ext uri="{FF2B5EF4-FFF2-40B4-BE49-F238E27FC236}">
                <a16:creationId xmlns:a16="http://schemas.microsoft.com/office/drawing/2014/main" id="{83852484-AA93-CE8B-82B2-E2DF2DD65102}"/>
              </a:ext>
            </a:extLst>
          </p:cNvPr>
          <p:cNvSpPr/>
          <p:nvPr/>
        </p:nvSpPr>
        <p:spPr>
          <a:xfrm>
            <a:off x="3618271" y="3116826"/>
            <a:ext cx="796413" cy="598436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Arrow: Notched Right 12">
            <a:extLst>
              <a:ext uri="{FF2B5EF4-FFF2-40B4-BE49-F238E27FC236}">
                <a16:creationId xmlns:a16="http://schemas.microsoft.com/office/drawing/2014/main" id="{E6707AA9-DFAA-5ACC-545B-D6821A87C97C}"/>
              </a:ext>
            </a:extLst>
          </p:cNvPr>
          <p:cNvSpPr/>
          <p:nvPr/>
        </p:nvSpPr>
        <p:spPr>
          <a:xfrm>
            <a:off x="7300131" y="3116826"/>
            <a:ext cx="796413" cy="598436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3711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F4536-C13C-C8BE-80C4-2476AA168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A359D-A512-F86C-633E-6BAF20D20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pPr algn="ctr"/>
            <a:r>
              <a:rPr lang="es-ES" sz="4000" dirty="0"/>
              <a:t>¿Cómo funciona? (Proceso)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BF53CF4-B172-3E4D-C17E-BC460B2B782A}"/>
              </a:ext>
            </a:extLst>
          </p:cNvPr>
          <p:cNvSpPr/>
          <p:nvPr/>
        </p:nvSpPr>
        <p:spPr>
          <a:xfrm>
            <a:off x="737420" y="1632154"/>
            <a:ext cx="2605548" cy="1071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697A3-D83E-476B-DCA1-694159AE836C}"/>
              </a:ext>
            </a:extLst>
          </p:cNvPr>
          <p:cNvSpPr txBox="1"/>
          <p:nvPr/>
        </p:nvSpPr>
        <p:spPr>
          <a:xfrm>
            <a:off x="693175" y="1706348"/>
            <a:ext cx="26940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/constitution</a:t>
            </a:r>
          </a:p>
          <a:p>
            <a:pPr algn="ctr"/>
            <a:r>
              <a:rPr lang="es-ES" dirty="0">
                <a:solidFill>
                  <a:schemeClr val="bg1"/>
                </a:solidFill>
              </a:rPr>
              <a:t>Principios y estándares del proyecto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6AAE48E-0F0A-C5DB-0597-D063420A183C}"/>
              </a:ext>
            </a:extLst>
          </p:cNvPr>
          <p:cNvSpPr/>
          <p:nvPr/>
        </p:nvSpPr>
        <p:spPr>
          <a:xfrm>
            <a:off x="585019" y="3666981"/>
            <a:ext cx="11021961" cy="14846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AA9B9E-9D71-E6C7-8E89-1D8948C023FA}"/>
              </a:ext>
            </a:extLst>
          </p:cNvPr>
          <p:cNvSpPr/>
          <p:nvPr/>
        </p:nvSpPr>
        <p:spPr>
          <a:xfrm>
            <a:off x="818535" y="3878826"/>
            <a:ext cx="1560871" cy="100289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C2F8E7A-A956-43C2-9A68-0A7F2DE3D62A}"/>
              </a:ext>
            </a:extLst>
          </p:cNvPr>
          <p:cNvSpPr/>
          <p:nvPr/>
        </p:nvSpPr>
        <p:spPr>
          <a:xfrm>
            <a:off x="2612922" y="3878826"/>
            <a:ext cx="1560871" cy="1002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EB323D7-A785-43E4-B356-8A4F3133D8F5}"/>
              </a:ext>
            </a:extLst>
          </p:cNvPr>
          <p:cNvSpPr/>
          <p:nvPr/>
        </p:nvSpPr>
        <p:spPr>
          <a:xfrm>
            <a:off x="4407309" y="3878826"/>
            <a:ext cx="1560871" cy="100289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A181FE8-BEDF-D597-530E-188F7F92D478}"/>
              </a:ext>
            </a:extLst>
          </p:cNvPr>
          <p:cNvSpPr/>
          <p:nvPr/>
        </p:nvSpPr>
        <p:spPr>
          <a:xfrm>
            <a:off x="6201696" y="3878826"/>
            <a:ext cx="1560871" cy="100289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D7D691E-09AB-FE5E-EB0B-0A768050AE38}"/>
              </a:ext>
            </a:extLst>
          </p:cNvPr>
          <p:cNvSpPr/>
          <p:nvPr/>
        </p:nvSpPr>
        <p:spPr>
          <a:xfrm>
            <a:off x="7996083" y="3907871"/>
            <a:ext cx="1560871" cy="1002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AC8CC7C-E4CC-3C4C-A1C4-691DD962C515}"/>
              </a:ext>
            </a:extLst>
          </p:cNvPr>
          <p:cNvSpPr/>
          <p:nvPr/>
        </p:nvSpPr>
        <p:spPr>
          <a:xfrm>
            <a:off x="9790470" y="3907871"/>
            <a:ext cx="1560871" cy="100289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422844-0059-60E5-2BBE-ED831BA6123C}"/>
              </a:ext>
            </a:extLst>
          </p:cNvPr>
          <p:cNvSpPr txBox="1"/>
          <p:nvPr/>
        </p:nvSpPr>
        <p:spPr>
          <a:xfrm>
            <a:off x="818535" y="4010939"/>
            <a:ext cx="1641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</a:rPr>
              <a:t>/specify</a:t>
            </a:r>
          </a:p>
          <a:p>
            <a:r>
              <a:rPr lang="es-ES" sz="1400" dirty="0">
                <a:solidFill>
                  <a:schemeClr val="bg1"/>
                </a:solidFill>
              </a:rPr>
              <a:t>Definir lo que se quiere (no técnico)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8E9245-DFC7-E390-765B-B13132B23E0E}"/>
              </a:ext>
            </a:extLst>
          </p:cNvPr>
          <p:cNvSpPr txBox="1"/>
          <p:nvPr/>
        </p:nvSpPr>
        <p:spPr>
          <a:xfrm>
            <a:off x="2605958" y="4010939"/>
            <a:ext cx="1641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</a:rPr>
              <a:t>/clarify</a:t>
            </a:r>
          </a:p>
          <a:p>
            <a:r>
              <a:rPr lang="es-ES" sz="1400" dirty="0">
                <a:solidFill>
                  <a:schemeClr val="bg1"/>
                </a:solidFill>
              </a:rPr>
              <a:t>Cuestiones a resolver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E2D768-763A-EE4D-35E5-1E6B85B3C385}"/>
              </a:ext>
            </a:extLst>
          </p:cNvPr>
          <p:cNvSpPr txBox="1"/>
          <p:nvPr/>
        </p:nvSpPr>
        <p:spPr>
          <a:xfrm>
            <a:off x="4393381" y="4010939"/>
            <a:ext cx="1641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</a:rPr>
              <a:t>/plan</a:t>
            </a:r>
          </a:p>
          <a:p>
            <a:r>
              <a:rPr lang="es-ES" sz="1400" dirty="0">
                <a:solidFill>
                  <a:schemeClr val="bg1"/>
                </a:solidFill>
              </a:rPr>
              <a:t>Plan de Implementación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3BF883-1698-7AC2-7D28-75493070FD8E}"/>
              </a:ext>
            </a:extLst>
          </p:cNvPr>
          <p:cNvSpPr txBox="1"/>
          <p:nvPr/>
        </p:nvSpPr>
        <p:spPr>
          <a:xfrm>
            <a:off x="6196370" y="4010939"/>
            <a:ext cx="1641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</a:rPr>
              <a:t>/tasks</a:t>
            </a:r>
          </a:p>
          <a:p>
            <a:r>
              <a:rPr lang="es-ES" sz="1400" dirty="0">
                <a:solidFill>
                  <a:schemeClr val="bg1"/>
                </a:solidFill>
              </a:rPr>
              <a:t>Dividir el plan en tareas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F3ADB2-5EC3-F7C3-0377-9678B1541B23}"/>
              </a:ext>
            </a:extLst>
          </p:cNvPr>
          <p:cNvSpPr txBox="1"/>
          <p:nvPr/>
        </p:nvSpPr>
        <p:spPr>
          <a:xfrm>
            <a:off x="8031314" y="4010939"/>
            <a:ext cx="1641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</a:rPr>
              <a:t>/analyze</a:t>
            </a:r>
          </a:p>
          <a:p>
            <a:r>
              <a:rPr lang="es-ES" sz="1400" dirty="0">
                <a:solidFill>
                  <a:schemeClr val="bg1"/>
                </a:solidFill>
              </a:rPr>
              <a:t>Validar la coherencia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BB201B-D530-6928-CC75-5DFE7FF14B8C}"/>
              </a:ext>
            </a:extLst>
          </p:cNvPr>
          <p:cNvSpPr txBox="1"/>
          <p:nvPr/>
        </p:nvSpPr>
        <p:spPr>
          <a:xfrm>
            <a:off x="9790470" y="4010939"/>
            <a:ext cx="16419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1"/>
                </a:solidFill>
              </a:rPr>
              <a:t>/implement</a:t>
            </a:r>
          </a:p>
          <a:p>
            <a:r>
              <a:rPr lang="es-ES" sz="1400" dirty="0">
                <a:solidFill>
                  <a:schemeClr val="bg1"/>
                </a:solidFill>
              </a:rPr>
              <a:t>Ejecutar tareas y tests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3809BD88-391F-6869-EBC2-31914A761C25}"/>
              </a:ext>
            </a:extLst>
          </p:cNvPr>
          <p:cNvCxnSpPr>
            <a:cxnSpLocks/>
            <a:stCxn id="14" idx="3"/>
            <a:endCxn id="37" idx="3"/>
          </p:cNvCxnSpPr>
          <p:nvPr/>
        </p:nvCxnSpPr>
        <p:spPr>
          <a:xfrm flipH="1">
            <a:off x="6691670" y="4409317"/>
            <a:ext cx="4915310" cy="1505708"/>
          </a:xfrm>
          <a:prstGeom prst="bentConnector3">
            <a:avLst>
              <a:gd name="adj1" fmla="val -465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BF0DA3C-DF84-7720-908E-26AD62934093}"/>
              </a:ext>
            </a:extLst>
          </p:cNvPr>
          <p:cNvSpPr/>
          <p:nvPr/>
        </p:nvSpPr>
        <p:spPr>
          <a:xfrm>
            <a:off x="5130799" y="5413580"/>
            <a:ext cx="1560871" cy="1002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878462-676A-21AF-02EC-9F59DF742984}"/>
              </a:ext>
            </a:extLst>
          </p:cNvPr>
          <p:cNvSpPr txBox="1"/>
          <p:nvPr/>
        </p:nvSpPr>
        <p:spPr>
          <a:xfrm>
            <a:off x="5130799" y="5580972"/>
            <a:ext cx="16419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</a:rPr>
              <a:t>Create PR/Merge</a:t>
            </a:r>
            <a:endParaRPr lang="es-ES" sz="1400" dirty="0">
              <a:solidFill>
                <a:schemeClr val="bg1"/>
              </a:solidFill>
            </a:endParaRP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313DF2D-08DA-870B-7640-B977EC261A45}"/>
              </a:ext>
            </a:extLst>
          </p:cNvPr>
          <p:cNvCxnSpPr>
            <a:cxnSpLocks/>
            <a:stCxn id="37" idx="1"/>
            <a:endCxn id="14" idx="1"/>
          </p:cNvCxnSpPr>
          <p:nvPr/>
        </p:nvCxnSpPr>
        <p:spPr>
          <a:xfrm rot="10800000">
            <a:off x="585019" y="4409317"/>
            <a:ext cx="4545780" cy="1505708"/>
          </a:xfrm>
          <a:prstGeom prst="bentConnector3">
            <a:avLst>
              <a:gd name="adj1" fmla="val 10502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itle 1">
            <a:extLst>
              <a:ext uri="{FF2B5EF4-FFF2-40B4-BE49-F238E27FC236}">
                <a16:creationId xmlns:a16="http://schemas.microsoft.com/office/drawing/2014/main" id="{88B9E8C5-5D86-C2A4-3CE3-FC620110F522}"/>
              </a:ext>
            </a:extLst>
          </p:cNvPr>
          <p:cNvSpPr txBox="1">
            <a:spLocks/>
          </p:cNvSpPr>
          <p:nvPr/>
        </p:nvSpPr>
        <p:spPr>
          <a:xfrm>
            <a:off x="693175" y="3045763"/>
            <a:ext cx="4355075" cy="46179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dirty="0"/>
              <a:t>Ciclo de vida de las features</a:t>
            </a:r>
          </a:p>
        </p:txBody>
      </p:sp>
    </p:spTree>
    <p:extLst>
      <p:ext uri="{BB962C8B-B14F-4D97-AF65-F5344CB8AC3E}">
        <p14:creationId xmlns:p14="http://schemas.microsoft.com/office/powerpoint/2010/main" val="160335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F51EC-3D04-603D-4AB1-12975391C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6425"/>
          </a:xfrm>
        </p:spPr>
        <p:txBody>
          <a:bodyPr>
            <a:noAutofit/>
          </a:bodyPr>
          <a:lstStyle/>
          <a:p>
            <a:r>
              <a:rPr lang="es-ES" dirty="0"/>
              <a:t>Caso de estudio: </a:t>
            </a:r>
            <a:r>
              <a:rPr lang="es-ES" dirty="0" err="1"/>
              <a:t>PaymentHub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1980B-A085-356F-2639-037E18272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475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Agente IA conversacional para la gestión y aprobación de gastos</a:t>
            </a:r>
          </a:p>
          <a:p>
            <a:pPr marL="0" indent="0">
              <a:buNone/>
            </a:pP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Permite a los empleados:</a:t>
            </a:r>
          </a:p>
          <a:p>
            <a:pPr marL="0" indent="0">
              <a:buNone/>
            </a:pP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s-ES" dirty="0"/>
              <a:t>Someter solicitudes de aprobación de gastos mediante lenguaje natural en el chat</a:t>
            </a:r>
          </a:p>
          <a:p>
            <a:r>
              <a:rPr lang="es-ES" dirty="0"/>
              <a:t>Recibir actualizaciones de estado en tiempo real mientras la solicitud se enruta y aprueba</a:t>
            </a:r>
          </a:p>
          <a:p>
            <a:r>
              <a:rPr lang="es-ES" dirty="0"/>
              <a:t>Consultar el estado de sus gastos pendientes o históricos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 a los aprobadores:</a:t>
            </a:r>
            <a:br>
              <a:rPr lang="es-ES" dirty="0"/>
            </a:br>
            <a:endParaRPr lang="es-ES" dirty="0"/>
          </a:p>
          <a:p>
            <a:r>
              <a:rPr lang="es-ES" dirty="0"/>
              <a:t>Ver gastos pendientes de su equipo a través del chat</a:t>
            </a:r>
          </a:p>
          <a:p>
            <a:r>
              <a:rPr lang="es-ES" dirty="0"/>
              <a:t>Aprobar o rechazar con justificación desde la misma interfaz conversacional</a:t>
            </a:r>
          </a:p>
          <a:p>
            <a:r>
              <a:rPr lang="es-ES" dirty="0"/>
              <a:t>Recibir alertas cuando alguien en su equipo supera umbrales de política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02768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607B1-D93D-4A18-0DBC-7307897ED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4A47E-E153-E48D-F91B-0FB59FFFB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6425"/>
          </a:xfrm>
        </p:spPr>
        <p:txBody>
          <a:bodyPr>
            <a:noAutofit/>
          </a:bodyPr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4D9DB-32FD-C342-DA2A-C7C8F7EF3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47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/constitution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speckit.constitution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es-ES" dirty="0"/>
              <a:t>Define los principios arquitectónicos inmutables del proyecto. Los “artículos de gobierno” que guían toda la generación de código.</a:t>
            </a:r>
          </a:p>
          <a:p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¿Qué hace?</a:t>
            </a:r>
          </a:p>
          <a:p>
            <a:pPr lvl="1"/>
            <a:r>
              <a:rPr lang="es-ES" dirty="0"/>
              <a:t>Crea memory/constitution.md con principios:</a:t>
            </a:r>
          </a:p>
          <a:p>
            <a:pPr lvl="2"/>
            <a:r>
              <a:rPr lang="es-ES" dirty="0"/>
              <a:t>Arquitectura </a:t>
            </a:r>
            <a:r>
              <a:rPr lang="es-ES" dirty="0" err="1"/>
              <a:t>library-first</a:t>
            </a:r>
            <a:r>
              <a:rPr lang="es-ES" dirty="0"/>
              <a:t> (toda funcionalidad comienza como librería reutilizable)</a:t>
            </a:r>
          </a:p>
          <a:p>
            <a:pPr lvl="2"/>
            <a:r>
              <a:rPr lang="es-ES" dirty="0"/>
              <a:t>Test-</a:t>
            </a:r>
            <a:r>
              <a:rPr lang="es-ES" dirty="0" err="1"/>
              <a:t>first</a:t>
            </a:r>
            <a:r>
              <a:rPr lang="es-ES" dirty="0"/>
              <a:t> imperative (tests antes que código)</a:t>
            </a:r>
          </a:p>
          <a:p>
            <a:pPr lvl="2"/>
            <a:r>
              <a:rPr lang="es-ES" dirty="0" err="1"/>
              <a:t>Simplicity</a:t>
            </a:r>
            <a:r>
              <a:rPr lang="es-ES" dirty="0"/>
              <a:t> gates (máximo 3 proyectos)</a:t>
            </a:r>
          </a:p>
          <a:p>
            <a:pPr lvl="2"/>
            <a:r>
              <a:rPr lang="es-ES" dirty="0" err="1"/>
              <a:t>Anti-abstraction</a:t>
            </a:r>
            <a:r>
              <a:rPr lang="es-ES" dirty="0"/>
              <a:t> (confía en </a:t>
            </a:r>
            <a:r>
              <a:rPr lang="es-ES" dirty="0" err="1"/>
              <a:t>frameworks</a:t>
            </a:r>
            <a:r>
              <a:rPr lang="es-ES" dirty="0"/>
              <a:t>, no envuelvas todo)</a:t>
            </a:r>
          </a:p>
        </p:txBody>
      </p:sp>
    </p:spTree>
    <p:extLst>
      <p:ext uri="{BB962C8B-B14F-4D97-AF65-F5344CB8AC3E}">
        <p14:creationId xmlns:p14="http://schemas.microsoft.com/office/powerpoint/2010/main" val="4035985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D0CAE-E4BE-D1F2-FA6F-D990EFDFE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0BDF8-BC47-7923-CF74-EAE4A09AE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3100"/>
          </a:xfrm>
        </p:spPr>
        <p:txBody>
          <a:bodyPr>
            <a:noAutofit/>
          </a:bodyPr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26E90-6A42-8A2D-7DC5-B5F03A7BA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3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/constitution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speckit.constitution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¿Por qué importa? </a:t>
            </a:r>
          </a:p>
          <a:p>
            <a:r>
              <a:rPr lang="es-ES" dirty="0"/>
              <a:t>Actúa como “ADN arquitectónico” – asegura que todas las futuras especificaciones respeten los principios. Sin esto, los </a:t>
            </a:r>
            <a:r>
              <a:rPr lang="es-ES" dirty="0" err="1"/>
              <a:t>LLMs</a:t>
            </a:r>
            <a:r>
              <a:rPr lang="es-ES" dirty="0"/>
              <a:t> pueden generar soluciones inconsistentes.</a:t>
            </a: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¿Cuándo usarlo?</a:t>
            </a:r>
          </a:p>
          <a:p>
            <a:r>
              <a:rPr lang="es-ES" dirty="0"/>
              <a:t>Primero, antes que cualquier cosa.</a:t>
            </a:r>
          </a:p>
          <a:p>
            <a:r>
              <a:rPr lang="es-ES" dirty="0"/>
              <a:t>Una vez por proyecto (o cuando necesites actualizar principios)</a:t>
            </a:r>
          </a:p>
        </p:txBody>
      </p:sp>
    </p:spTree>
    <p:extLst>
      <p:ext uri="{BB962C8B-B14F-4D97-AF65-F5344CB8AC3E}">
        <p14:creationId xmlns:p14="http://schemas.microsoft.com/office/powerpoint/2010/main" val="2154116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57DCE-68DF-8EBC-D062-DF555F0EB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BEDE5-886E-6788-3285-D946247E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3100"/>
          </a:xfrm>
        </p:spPr>
        <p:txBody>
          <a:bodyPr>
            <a:noAutofit/>
          </a:bodyPr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52AB0-24C9-7319-65D4-70FDDB9B5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3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/constitution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speckit.constitution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None/>
            </a:pP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F5D876-4BAE-9F51-FCD4-500D1466A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164" y="299935"/>
            <a:ext cx="2762636" cy="1476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0CC105-B227-D269-7A1D-677C8E709D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650"/>
          <a:stretch>
            <a:fillRect/>
          </a:stretch>
        </p:blipFill>
        <p:spPr>
          <a:xfrm>
            <a:off x="1570993" y="2068615"/>
            <a:ext cx="9050013" cy="452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596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B2951-4377-CA93-A964-3CBFEACC2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07D5D-E0DF-EC74-7D4E-C63AE2903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C315D-F1C4-40B2-5D49-1745F6A04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3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/specify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speckit.specify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¿Qué es? </a:t>
            </a:r>
          </a:p>
          <a:p>
            <a:r>
              <a:rPr lang="es-ES" dirty="0"/>
              <a:t>Transforma una descripción vaga de </a:t>
            </a:r>
            <a:r>
              <a:rPr lang="es-ES" dirty="0" err="1"/>
              <a:t>feature</a:t>
            </a:r>
            <a:r>
              <a:rPr lang="es-ES" dirty="0"/>
              <a:t> en una </a:t>
            </a:r>
            <a:r>
              <a:rPr lang="es-ES" b="1" dirty="0"/>
              <a:t>Especificación de Producto Completa (PRD) </a:t>
            </a:r>
            <a:r>
              <a:rPr lang="es-ES" dirty="0"/>
              <a:t>estructurada, con </a:t>
            </a:r>
            <a:r>
              <a:rPr lang="es-ES" dirty="0" err="1"/>
              <a:t>user</a:t>
            </a:r>
            <a:r>
              <a:rPr lang="es-ES" dirty="0"/>
              <a:t> </a:t>
            </a:r>
            <a:r>
              <a:rPr lang="es-ES" dirty="0" err="1"/>
              <a:t>stories</a:t>
            </a:r>
            <a:r>
              <a:rPr lang="es-ES" dirty="0"/>
              <a:t>, criterios de aceptación y ambigüedades marcadas.</a:t>
            </a: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¿Qué hace?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Analiza tu descripción de </a:t>
            </a:r>
            <a:r>
              <a:rPr lang="es-ES" dirty="0" err="1"/>
              <a:t>feature</a:t>
            </a:r>
            <a:r>
              <a:rPr lang="es-E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Hizo preguntas de clarificación (¿</a:t>
            </a:r>
            <a:r>
              <a:rPr lang="es-ES" dirty="0" err="1"/>
              <a:t>scope</a:t>
            </a:r>
            <a:r>
              <a:rPr lang="es-ES" dirty="0"/>
              <a:t>?, ¿usuarios?, ¿límites?)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Genera automáticamente: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Spec.md: Especificación completa con </a:t>
            </a:r>
            <a:r>
              <a:rPr lang="es-ES" dirty="0" err="1"/>
              <a:t>user</a:t>
            </a:r>
            <a:r>
              <a:rPr lang="es-ES" dirty="0"/>
              <a:t> </a:t>
            </a:r>
            <a:r>
              <a:rPr lang="es-ES" dirty="0" err="1"/>
              <a:t>stories</a:t>
            </a:r>
            <a:r>
              <a:rPr lang="es-ES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Rama de </a:t>
            </a:r>
            <a:r>
              <a:rPr lang="es-ES" dirty="0" err="1"/>
              <a:t>feature</a:t>
            </a:r>
            <a:r>
              <a:rPr lang="es-ES" dirty="0"/>
              <a:t> (ej.: 003-chay-system)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Estructura </a:t>
            </a:r>
            <a:r>
              <a:rPr lang="es-ES" dirty="0" err="1"/>
              <a:t>specs</a:t>
            </a:r>
            <a:r>
              <a:rPr lang="es-ES" dirty="0"/>
              <a:t>/[</a:t>
            </a:r>
            <a:r>
              <a:rPr lang="es-ES" dirty="0" err="1"/>
              <a:t>branch</a:t>
            </a:r>
            <a:r>
              <a:rPr lang="es-ES" dirty="0"/>
              <a:t>]/ lista para documentación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5A0610-35CD-C84B-B4DC-968EFCE4F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14EB6D5-7D0E-09E0-ADDA-04E2E7562BCE}"/>
              </a:ext>
            </a:extLst>
          </p:cNvPr>
          <p:cNvSpPr/>
          <p:nvPr/>
        </p:nvSpPr>
        <p:spPr>
          <a:xfrm>
            <a:off x="4552950" y="295275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660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C2C93-F90B-C43B-778C-FED334C10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DD43-5D5F-EDB9-BE69-1F6881533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77EF0-2468-010B-4A63-B020FBE61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3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/specify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speckit.specify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es-ES" dirty="0"/>
              <a:t>Input: puede ir solo o junto un prompt: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D2F770-8125-233F-0EEB-612D0073A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050" y="2763402"/>
            <a:ext cx="9135750" cy="31151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4505C2-E604-572C-59EF-D5F4A2BD6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9BD2BBF-F297-58D6-5545-76D7240826BB}"/>
              </a:ext>
            </a:extLst>
          </p:cNvPr>
          <p:cNvSpPr/>
          <p:nvPr/>
        </p:nvSpPr>
        <p:spPr>
          <a:xfrm>
            <a:off x="4552950" y="295275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1050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578D5-5AF0-CFAF-8CC4-B3464B9A3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0D9AA-D900-EABA-AA89-D7B977873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4DEBC-541E-7034-7CB6-5B620AEE7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3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/specify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speckit.specify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es-ES" dirty="0"/>
              <a:t>Sigue las órdenes del prompt y genera la rama:</a:t>
            </a:r>
          </a:p>
          <a:p>
            <a:endParaRPr lang="es-E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0ABA60-4925-C2ED-1435-877F5E781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467" y="2585956"/>
            <a:ext cx="8261065" cy="227179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711244-1D71-4218-A825-5FC49BABEC21}"/>
              </a:ext>
            </a:extLst>
          </p:cNvPr>
          <p:cNvCxnSpPr/>
          <p:nvPr/>
        </p:nvCxnSpPr>
        <p:spPr>
          <a:xfrm>
            <a:off x="7353300" y="4029075"/>
            <a:ext cx="216217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104CB8-C9A5-CA00-AAEE-F217ADCDA58F}"/>
              </a:ext>
            </a:extLst>
          </p:cNvPr>
          <p:cNvCxnSpPr>
            <a:cxnSpLocks/>
          </p:cNvCxnSpPr>
          <p:nvPr/>
        </p:nvCxnSpPr>
        <p:spPr>
          <a:xfrm>
            <a:off x="2457450" y="4438650"/>
            <a:ext cx="60007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F9858CC5-E7F9-BF3E-2464-25FE498D7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63" y="5178241"/>
            <a:ext cx="4286848" cy="13146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11D009-0543-8EC1-7D20-2F6996814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981" y="5458448"/>
            <a:ext cx="5112811" cy="7669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083E7D-BCCB-5944-F4B1-8C27B9B66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FC67ABA-F0FE-87F7-D306-5A6025EAB12F}"/>
              </a:ext>
            </a:extLst>
          </p:cNvPr>
          <p:cNvSpPr/>
          <p:nvPr/>
        </p:nvSpPr>
        <p:spPr>
          <a:xfrm>
            <a:off x="4552950" y="295275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5990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35D32-FECC-F189-0820-D884FC7D3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FB56-32E0-8712-6848-13411354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29D53-7B70-5E1B-361C-81E89A78C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3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/specify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speckit.specify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es-ES" dirty="0"/>
              <a:t>Output (I):</a:t>
            </a:r>
          </a:p>
          <a:p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2733E1-9B5E-5F1D-94E6-93C0450FC1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502"/>
          <a:stretch>
            <a:fillRect/>
          </a:stretch>
        </p:blipFill>
        <p:spPr>
          <a:xfrm>
            <a:off x="1175651" y="2380803"/>
            <a:ext cx="9840698" cy="4000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EAAC7F-875B-BE2A-84EC-4B69DC231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F41B83-E253-07D6-B63A-42751965844B}"/>
              </a:ext>
            </a:extLst>
          </p:cNvPr>
          <p:cNvSpPr/>
          <p:nvPr/>
        </p:nvSpPr>
        <p:spPr>
          <a:xfrm>
            <a:off x="4552950" y="295275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0346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079CA-6C10-A50B-2380-E756F59EA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B0748-5DA5-2DC1-BE44-C49793F65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4E63A-75EF-6E98-0092-1651EAFF4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3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/specify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speckit.specify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es-ES" dirty="0"/>
              <a:t>Output (II):</a:t>
            </a:r>
          </a:p>
          <a:p>
            <a:endParaRPr lang="es-E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782067-F3D0-A436-D0F8-EF1A2523C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440" y="2728731"/>
            <a:ext cx="9269119" cy="2600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345097-C703-B7B0-896B-92631B8AE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13F658-D4A6-921B-35F5-7DFBE53F2B54}"/>
              </a:ext>
            </a:extLst>
          </p:cNvPr>
          <p:cNvSpPr/>
          <p:nvPr/>
        </p:nvSpPr>
        <p:spPr>
          <a:xfrm>
            <a:off x="4552950" y="295275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9051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C8979-F34D-06C7-BF63-027ADE5C2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A785-3CB3-7361-90DF-BEC723D44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E2529-A1CE-3486-D996-E42ACFF2E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3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/specify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speckit.specify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es-ES" dirty="0"/>
              <a:t>Output (III):</a:t>
            </a:r>
          </a:p>
          <a:p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49436-231E-0F4C-FA23-72210047D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204" y="2438135"/>
            <a:ext cx="9440592" cy="37914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502637-D9A9-B632-66F5-0517F9F11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C61F9C-1392-B579-0486-A89AC2B08A2F}"/>
              </a:ext>
            </a:extLst>
          </p:cNvPr>
          <p:cNvSpPr/>
          <p:nvPr/>
        </p:nvSpPr>
        <p:spPr>
          <a:xfrm>
            <a:off x="4552950" y="295275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2072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ACCBD-C725-B459-460C-F5165CEB9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94619-1C6F-D52C-EB64-CB32D333D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6BF4C-89C4-828C-61FC-639E9248E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3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/specify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speckit.specify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es-ES" dirty="0"/>
              <a:t>Output (IV):</a:t>
            </a:r>
          </a:p>
          <a:p>
            <a:endParaRPr lang="es-E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69B326-A161-57D8-89B9-3E355EF19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844" y="2461947"/>
            <a:ext cx="9392961" cy="3801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9BC2C5-C693-4DDA-3F1E-C759108A8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8F0CE4-0024-B639-9719-82E8B1AD534C}"/>
              </a:ext>
            </a:extLst>
          </p:cNvPr>
          <p:cNvSpPr/>
          <p:nvPr/>
        </p:nvSpPr>
        <p:spPr>
          <a:xfrm>
            <a:off x="4552950" y="295275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6836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5FEC1-A40B-5235-2E48-0E57A9EA4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C452-3E59-546B-51D8-FDD1C3FE8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BDE19-8A31-E296-231D-3BD230E31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325"/>
            <a:ext cx="10515600" cy="50419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/clarify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speckit.clarify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r>
              <a:rPr lang="es-ES" dirty="0"/>
              <a:t>Identifica y resuelve ambigüedades en la especificación. Hace preguntas específicas.</a:t>
            </a:r>
          </a:p>
          <a:p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¿Qué hace?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Analiza spec.md para encontrar: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Requisitos contradictorios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Ambigüedades Edge-case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 err="1"/>
              <a:t>Scope</a:t>
            </a:r>
            <a:r>
              <a:rPr lang="es-ES" dirty="0"/>
              <a:t> sin límites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Genera preguntas clarificadoras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Integra tus respuestas de vuelta a spec.md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Valida completitud con </a:t>
            </a:r>
            <a:r>
              <a:rPr lang="es-ES" dirty="0" err="1"/>
              <a:t>checklist</a:t>
            </a:r>
            <a:endParaRPr lang="es-ES" dirty="0"/>
          </a:p>
          <a:p>
            <a:pPr marL="971550" lvl="1" indent="-514350">
              <a:buFont typeface="+mj-lt"/>
              <a:buAutoNum type="arabicPeriod"/>
            </a:pPr>
            <a:endParaRPr lang="es-ES" dirty="0"/>
          </a:p>
          <a:p>
            <a:endParaRPr lang="es-E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3E2749-8F85-B7A7-BD78-2C286A1EB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615" y="2985991"/>
            <a:ext cx="4439270" cy="13813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399DA3-39AE-94EB-6FB8-E3A487E69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FEAC8A5-E241-7BB6-64FF-4480BAEA79A8}"/>
              </a:ext>
            </a:extLst>
          </p:cNvPr>
          <p:cNvSpPr/>
          <p:nvPr/>
        </p:nvSpPr>
        <p:spPr>
          <a:xfrm>
            <a:off x="5753100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7649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59EAC-C1E8-E5E1-CC1A-A1A48A10E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E2048-5D8C-975A-B1F1-2440C1CE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77602-0DDA-CC54-AE7C-C56CBBA84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3476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/clarify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speckit.clarify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Preguntas 1 de 3</a:t>
            </a: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B9E8E-3CBF-73C0-B73A-120735C0A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27" y="2228649"/>
            <a:ext cx="5619934" cy="36578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55302C-ADEA-1FC3-D627-CB84A4156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086" y="2888708"/>
            <a:ext cx="4725187" cy="22739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DFA5AB-0DE9-A6FD-5844-058B29A44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CAF17D-48CB-5637-63FD-8549A22FF556}"/>
              </a:ext>
            </a:extLst>
          </p:cNvPr>
          <p:cNvSpPr/>
          <p:nvPr/>
        </p:nvSpPr>
        <p:spPr>
          <a:xfrm>
            <a:off x="5753100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7A403F9-1F43-5EC0-C723-EA4E42AAF493}"/>
              </a:ext>
            </a:extLst>
          </p:cNvPr>
          <p:cNvSpPr/>
          <p:nvPr/>
        </p:nvSpPr>
        <p:spPr>
          <a:xfrm>
            <a:off x="6995811" y="3522663"/>
            <a:ext cx="333375" cy="3619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3857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3A3F2-5017-C87E-A453-1F66464E3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DD50-B467-DF80-065E-7F23A4A13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6E703-A134-8349-142F-CD076410B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/clarify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speckit.clarify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Preguntas 2 de 3</a:t>
            </a: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A52F30-BC6E-11E1-A4FE-03F145D16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26792"/>
            <a:ext cx="4334480" cy="36485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94CA62-580A-2567-43A9-45F713666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641" y="3052611"/>
            <a:ext cx="4420217" cy="21624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0FE819-29C5-A2ED-2702-5435BC0C6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A91C174-547E-60E3-EA33-3F7FDCBA7DA6}"/>
              </a:ext>
            </a:extLst>
          </p:cNvPr>
          <p:cNvSpPr/>
          <p:nvPr/>
        </p:nvSpPr>
        <p:spPr>
          <a:xfrm>
            <a:off x="5753100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56596D-567E-0729-9C4B-87F7E2E378D7}"/>
              </a:ext>
            </a:extLst>
          </p:cNvPr>
          <p:cNvSpPr/>
          <p:nvPr/>
        </p:nvSpPr>
        <p:spPr>
          <a:xfrm>
            <a:off x="6600825" y="4486275"/>
            <a:ext cx="333375" cy="3619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5585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CD8A2-6AFD-F679-B93C-5D944FF06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064B6-517F-7768-5B92-DCDE5098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48F61-3771-10ED-4C2A-3475A7466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/clarify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speckit.clarify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Preguntas 3 de 3</a:t>
            </a: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050072-A16C-B652-D293-B8A4AC447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6173D2A-ABA6-B35E-5AA9-F24874DD686A}"/>
              </a:ext>
            </a:extLst>
          </p:cNvPr>
          <p:cNvSpPr/>
          <p:nvPr/>
        </p:nvSpPr>
        <p:spPr>
          <a:xfrm>
            <a:off x="5753100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CC1A7C-9C9C-94CD-A107-E94D12AEC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95332"/>
            <a:ext cx="4344006" cy="33056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61AE96-D988-3AF1-C8D3-8C444B9D0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2761952"/>
            <a:ext cx="4324954" cy="2133898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AE2976E-CBFA-C5CA-E04D-332F6DDE5E48}"/>
              </a:ext>
            </a:extLst>
          </p:cNvPr>
          <p:cNvSpPr/>
          <p:nvPr/>
        </p:nvSpPr>
        <p:spPr>
          <a:xfrm>
            <a:off x="6934200" y="3676501"/>
            <a:ext cx="295275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5214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56764-E16F-6776-556F-F078029DF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CE70F-636A-F72A-A8FA-1DA5B1056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B7BEB-EAE4-5FB1-44F5-6E075D9A2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/plan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speckit.plan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¿Qué es?</a:t>
            </a:r>
          </a:p>
          <a:p>
            <a:r>
              <a:rPr lang="es-ES" dirty="0"/>
              <a:t>Traduce la especificación ejecutable en un </a:t>
            </a:r>
            <a:r>
              <a:rPr lang="es-ES" b="1" dirty="0"/>
              <a:t>Plan Técnico Detallado</a:t>
            </a:r>
            <a:r>
              <a:rPr lang="es-ES" dirty="0"/>
              <a:t> con decisiones arquitectónicas, </a:t>
            </a:r>
            <a:r>
              <a:rPr lang="es-ES" dirty="0" err="1"/>
              <a:t>tech</a:t>
            </a:r>
            <a:r>
              <a:rPr lang="es-ES" dirty="0"/>
              <a:t> </a:t>
            </a:r>
            <a:r>
              <a:rPr lang="es-ES" dirty="0" err="1"/>
              <a:t>stack</a:t>
            </a:r>
            <a:r>
              <a:rPr lang="es-ES" dirty="0"/>
              <a:t>, data </a:t>
            </a:r>
            <a:r>
              <a:rPr lang="es-ES" dirty="0" err="1"/>
              <a:t>models</a:t>
            </a:r>
            <a:r>
              <a:rPr lang="es-ES" dirty="0"/>
              <a:t> y API </a:t>
            </a:r>
            <a:r>
              <a:rPr lang="es-ES" dirty="0" err="1"/>
              <a:t>Contracts</a:t>
            </a:r>
            <a:r>
              <a:rPr lang="es-ES" dirty="0"/>
              <a:t>.</a:t>
            </a:r>
          </a:p>
          <a:p>
            <a:pPr marL="0" indent="0">
              <a:buNone/>
            </a:pPr>
            <a:r>
              <a:rPr lang="es-ES" dirty="0"/>
              <a:t>¿Qué hace?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Lee spec.md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Genera automáticamente: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plan.md: decisiones arquitectónicas con motivación (razonamiento)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data-model.md: </a:t>
            </a:r>
            <a:r>
              <a:rPr lang="es-ES" dirty="0" err="1"/>
              <a:t>Schemas</a:t>
            </a:r>
            <a:r>
              <a:rPr lang="es-ES" dirty="0"/>
              <a:t> y relaciones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 err="1"/>
              <a:t>Contracts</a:t>
            </a:r>
            <a:r>
              <a:rPr lang="es-ES" dirty="0"/>
              <a:t>/: API </a:t>
            </a:r>
            <a:r>
              <a:rPr lang="es-ES" dirty="0" err="1"/>
              <a:t>specifications</a:t>
            </a:r>
            <a:r>
              <a:rPr lang="es-ES" dirty="0"/>
              <a:t> (REST/</a:t>
            </a:r>
            <a:r>
              <a:rPr lang="es-ES" dirty="0" err="1"/>
              <a:t>GraphQL</a:t>
            </a:r>
            <a:r>
              <a:rPr lang="es-ES" dirty="0"/>
              <a:t>/</a:t>
            </a:r>
            <a:r>
              <a:rPr lang="es-ES" dirty="0" err="1"/>
              <a:t>WebSocket</a:t>
            </a:r>
            <a:r>
              <a:rPr lang="es-ES" dirty="0"/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research.md: </a:t>
            </a:r>
            <a:r>
              <a:rPr lang="es-ES" dirty="0" err="1"/>
              <a:t>Benchmarks</a:t>
            </a:r>
            <a:r>
              <a:rPr lang="es-ES" dirty="0"/>
              <a:t> e investigación de tecnologías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quickstart.md: Escenarios de validación clave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Valida cumplimiento con Constitution.</a:t>
            </a:r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A2F116-488D-892B-801A-0424504A3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2FA62D-B741-2250-5A9A-52DF7B6B61EB}"/>
              </a:ext>
            </a:extLst>
          </p:cNvPr>
          <p:cNvSpPr/>
          <p:nvPr/>
        </p:nvSpPr>
        <p:spPr>
          <a:xfrm>
            <a:off x="6934200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57882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21CD6-85C4-CE9D-63AA-7C276AB42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765F9-8937-E1A9-38BC-DAAE9004B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46F36-4179-4F3A-F35C-F57748F26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/plan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speckit.plan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¿Por qué importa?</a:t>
            </a:r>
            <a:endParaRPr lang="es-ES" dirty="0"/>
          </a:p>
          <a:p>
            <a:r>
              <a:rPr lang="es-ES" dirty="0"/>
              <a:t>Esto es donde la intención del negocio se convierte en arquitectura.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6E22C4-5919-4E39-F253-C1553257F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8DADE4-FCCA-368C-1D9F-A52B28ECBF1A}"/>
              </a:ext>
            </a:extLst>
          </p:cNvPr>
          <p:cNvSpPr/>
          <p:nvPr/>
        </p:nvSpPr>
        <p:spPr>
          <a:xfrm>
            <a:off x="6934200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2EA208-8D3B-2940-69B0-EF107EFB1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920" y="3359573"/>
            <a:ext cx="8292160" cy="301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251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699D8-FB2D-1D05-3427-B950E418C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6DBFD-9336-DC7C-7062-B98658578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D17C5-064D-D61F-0C1E-D45C89B15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/plan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speckit.plan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C6FF6D-D0D6-D531-EAFA-CFD99AFE6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3B57DD-642D-1976-5110-4BB3753DFC8D}"/>
              </a:ext>
            </a:extLst>
          </p:cNvPr>
          <p:cNvSpPr/>
          <p:nvPr/>
        </p:nvSpPr>
        <p:spPr>
          <a:xfrm>
            <a:off x="6934200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FFE97F-B947-586A-5ECB-826A255B1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415" y="2042834"/>
            <a:ext cx="8745170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414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568CE-A331-D286-2FF7-E57C7970C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C3B1-390F-97F3-C97E-6D7E6AE01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28118-72D0-6884-2B59-A228851A7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/plan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speckit.plan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44F201-C0F0-C0C4-1330-EAD2261C2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832DB11-872F-AD9F-ECBF-8928F404CC86}"/>
              </a:ext>
            </a:extLst>
          </p:cNvPr>
          <p:cNvSpPr/>
          <p:nvPr/>
        </p:nvSpPr>
        <p:spPr>
          <a:xfrm>
            <a:off x="6934200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6C37ED-8467-4AC7-7F5B-32D1FB2B2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230" y="2090620"/>
            <a:ext cx="9059539" cy="16861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AB7AC4-A145-D20D-A1F9-6B9844649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8730" y="4176573"/>
            <a:ext cx="8154538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2524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071F8-74C1-0B18-2835-A7F868371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CDBF4-82E2-33B1-9693-AC1054835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E897E-D25D-E0F5-A165-B2FAE11A5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/plan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speckit.plan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C71E5D-6C7B-8E0D-0DB6-A621E6882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6329E67-6EAF-93EB-B3F4-6C6B02D551BF}"/>
              </a:ext>
            </a:extLst>
          </p:cNvPr>
          <p:cNvSpPr/>
          <p:nvPr/>
        </p:nvSpPr>
        <p:spPr>
          <a:xfrm>
            <a:off x="6934200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610BEB-30A0-19E7-7723-3CE59B867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8" y="2881161"/>
            <a:ext cx="1571844" cy="21624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C07AD4-7679-C10A-ED47-A5B7C66A2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478" y="2055928"/>
            <a:ext cx="7474771" cy="440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9024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AD688-140C-F2A9-3F7A-ACF31CE94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DF38-2E5F-B86C-E6F9-57363C08F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76C8F-6267-BB4B-8255-5C275BE37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/tasks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speckit.tasks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None/>
            </a:pPr>
            <a:r>
              <a:rPr lang="es-ES" dirty="0"/>
              <a:t>¿Qué es?</a:t>
            </a:r>
          </a:p>
          <a:p>
            <a:r>
              <a:rPr lang="es-ES" dirty="0"/>
              <a:t>Convierte el Plan Técnico en una </a:t>
            </a:r>
            <a:r>
              <a:rPr lang="es-ES" b="1" dirty="0"/>
              <a:t>Lista de Tareas Ejecutables y Ordenadas</a:t>
            </a:r>
            <a:r>
              <a:rPr lang="es-ES" dirty="0"/>
              <a:t> con dependencias, paralelización y test-</a:t>
            </a:r>
            <a:r>
              <a:rPr lang="es-ES" dirty="0" err="1"/>
              <a:t>first</a:t>
            </a:r>
            <a:r>
              <a:rPr lang="es-ES" dirty="0"/>
              <a:t> </a:t>
            </a:r>
            <a:r>
              <a:rPr lang="es-ES" dirty="0" err="1"/>
              <a:t>ordering</a:t>
            </a:r>
            <a:r>
              <a:rPr lang="es-ES" dirty="0"/>
              <a:t>.</a:t>
            </a:r>
          </a:p>
          <a:p>
            <a:pPr marL="0" indent="0">
              <a:buNone/>
            </a:pPr>
            <a:r>
              <a:rPr lang="es-ES" dirty="0"/>
              <a:t>¿Qué hace?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Lee plan.md, data-model.md, </a:t>
            </a:r>
            <a:r>
              <a:rPr lang="es-ES" dirty="0" err="1"/>
              <a:t>contracts</a:t>
            </a:r>
            <a:r>
              <a:rPr lang="es-ES" dirty="0"/>
              <a:t>/ y research.md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Genera tasks.md con: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Tasks ordenadas por dependencias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Marcas [P] para paralelizar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Test-</a:t>
            </a:r>
            <a:r>
              <a:rPr lang="es-ES" dirty="0" err="1"/>
              <a:t>first</a:t>
            </a:r>
            <a:r>
              <a:rPr lang="es-ES" dirty="0"/>
              <a:t> </a:t>
            </a:r>
            <a:r>
              <a:rPr lang="es-ES" dirty="0" err="1"/>
              <a:t>ordering</a:t>
            </a:r>
            <a:r>
              <a:rPr lang="es-ES" dirty="0"/>
              <a:t> (contratos/tests antes de implementación)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Criterios de aceptación medibles.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Mapea cada tarea hacia atrás a un requisito específico</a:t>
            </a: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3CCCAB-4B63-FFF6-DD83-9F6050D37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6A8B93D-800F-DAF7-8856-F672EF813708}"/>
              </a:ext>
            </a:extLst>
          </p:cNvPr>
          <p:cNvSpPr/>
          <p:nvPr/>
        </p:nvSpPr>
        <p:spPr>
          <a:xfrm>
            <a:off x="8141882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52090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9CE89-53B6-381D-2DF3-BA87DBF73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4A3A0-9CEF-3A34-1BE7-614AA5928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B8AD5-B0E2-9E8E-2AD9-0CC4BBDBF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/tasks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speckit.tasks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None/>
            </a:pPr>
            <a:r>
              <a:rPr lang="es-ES" dirty="0"/>
              <a:t>¿Por qué importa?</a:t>
            </a:r>
          </a:p>
          <a:p>
            <a:r>
              <a:rPr lang="es-ES" dirty="0"/>
              <a:t>Convierte 20 páginas de </a:t>
            </a:r>
            <a:r>
              <a:rPr lang="es-ES" dirty="0" err="1"/>
              <a:t>planning</a:t>
            </a:r>
            <a:r>
              <a:rPr lang="es-ES" dirty="0"/>
              <a:t> en una </a:t>
            </a:r>
            <a:r>
              <a:rPr lang="es-ES" b="1" dirty="0"/>
              <a:t>lista de </a:t>
            </a:r>
            <a:r>
              <a:rPr lang="es-ES" b="1" dirty="0" err="1"/>
              <a:t>checkbox</a:t>
            </a:r>
            <a:r>
              <a:rPr lang="es-ES" b="1" dirty="0"/>
              <a:t> accionable</a:t>
            </a:r>
            <a:r>
              <a:rPr lang="es-ES" dirty="0"/>
              <a:t>.</a:t>
            </a: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FE4E74-8E0D-370E-DF27-3B96EC457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07D453D-D3C9-0642-3A54-74A1D7FF8790}"/>
              </a:ext>
            </a:extLst>
          </p:cNvPr>
          <p:cNvSpPr/>
          <p:nvPr/>
        </p:nvSpPr>
        <p:spPr>
          <a:xfrm>
            <a:off x="8141882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634E0-7C90-AFE4-CE01-5779884D1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851" y="3429000"/>
            <a:ext cx="5791520" cy="276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954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9ADFD-B1F3-50BF-ADAD-4F1D94E01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F3F44-110B-8092-1E6B-935718C8B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F9F51-F434-28F0-56CA-C2AF2523E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/tasks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speckit.tasks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659B0A-B066-3083-D908-7DC517F1B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F1DF212-5894-B6BC-029D-864C004A8974}"/>
              </a:ext>
            </a:extLst>
          </p:cNvPr>
          <p:cNvSpPr/>
          <p:nvPr/>
        </p:nvSpPr>
        <p:spPr>
          <a:xfrm>
            <a:off x="8141882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CCB9F4-8721-DFE7-A2E7-B0A761D4A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61" y="1938391"/>
            <a:ext cx="5100978" cy="41861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4801D8-39A3-0317-69F1-B03E0EC9B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8472" y="2893085"/>
            <a:ext cx="4601217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1028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A80E4-9ED4-38E0-0225-68F10A74C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851FC-B32C-ABAE-0596-5B9BD2A49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4B31C-3F25-34A6-FEC6-A9E1EA481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/tasks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speckit.tasks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A68E40-5F85-A44E-4DC1-37241243A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DEE1BD1-8CC0-68C0-F16A-DFDFC5DAD990}"/>
              </a:ext>
            </a:extLst>
          </p:cNvPr>
          <p:cNvSpPr/>
          <p:nvPr/>
        </p:nvSpPr>
        <p:spPr>
          <a:xfrm>
            <a:off x="8141882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42A5B-1D01-AE08-9D84-419896B27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361" y="2138078"/>
            <a:ext cx="9869277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2937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72D6B-8EB4-55F8-A652-260538EB3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B8BB1-0C61-AF85-9635-9D1EE8F34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7F9C9-0786-2DAD-C18F-201794316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/tasks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speckit.tasks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4E5623-CC1E-2725-EB34-78D4F6B52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93F2556-9F9E-7B27-4AF0-F0B187C49688}"/>
              </a:ext>
            </a:extLst>
          </p:cNvPr>
          <p:cNvSpPr/>
          <p:nvPr/>
        </p:nvSpPr>
        <p:spPr>
          <a:xfrm>
            <a:off x="8141882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4EEA11-340C-C9AD-417F-6EBC8D82E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730" y="2471499"/>
            <a:ext cx="9240540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3830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C751-F508-C4B8-F78C-7F49C3052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B2A98-B7A2-5201-5D3E-08919C9F6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7FB48-5456-2F04-390D-3317342D1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/tasks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speckit.tasks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A262FD-C39C-E098-2531-875345671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4D084D-4595-82D9-E3EE-ACB1F4B19F04}"/>
              </a:ext>
            </a:extLst>
          </p:cNvPr>
          <p:cNvSpPr/>
          <p:nvPr/>
        </p:nvSpPr>
        <p:spPr>
          <a:xfrm>
            <a:off x="8141882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4ABCC2-546F-3520-DFE4-BE1EAD530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914" y="1828134"/>
            <a:ext cx="9288171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917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4B988-8803-6E15-2B0E-2F1F9449D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51F0C-2B05-DC60-ACF6-51E4C2850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690D8-31D0-9734-882F-24079B1AE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/analyze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speckit.analyze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¿Qué es?</a:t>
            </a:r>
          </a:p>
          <a:p>
            <a:pPr marL="0" indent="0">
              <a:buNone/>
            </a:pPr>
            <a:r>
              <a:rPr lang="es-ES" dirty="0"/>
              <a:t>Ejecuta un </a:t>
            </a:r>
            <a:r>
              <a:rPr lang="es-ES" b="1" dirty="0"/>
              <a:t>análisis profundo </a:t>
            </a:r>
            <a:r>
              <a:rPr lang="es-ES" dirty="0"/>
              <a:t>de la especificación y plan para detectar riesgos, inconsistencias y oportunidades de mejora </a:t>
            </a:r>
            <a:r>
              <a:rPr lang="es-ES" b="1" dirty="0"/>
              <a:t>antes de implementar.</a:t>
            </a:r>
          </a:p>
          <a:p>
            <a:pPr marL="0" indent="0">
              <a:buNone/>
            </a:pPr>
            <a:r>
              <a:rPr lang="es-ES" b="1" dirty="0"/>
              <a:t>¿Qué hace?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Verifica </a:t>
            </a:r>
            <a:r>
              <a:rPr lang="es-ES" dirty="0" err="1"/>
              <a:t>specs</a:t>
            </a:r>
            <a:r>
              <a:rPr lang="es-ES" dirty="0"/>
              <a:t> vs. Plan: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¿Todos los requisitos tienen cobertura en el plan?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¿Hay decisiones no justificadas en el plan?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Detecta riesgos: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Complejidad innecesaria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Violaciones de la Constitution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Gaps de seguridad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Cuellos de botella en el rendimiento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Genera reporte de lo que ha detectado</a:t>
            </a: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E915FF-9E2E-85C9-62B5-0D4A61E9C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48B999-F0BE-F783-DA86-B5D9FA131732}"/>
              </a:ext>
            </a:extLst>
          </p:cNvPr>
          <p:cNvSpPr/>
          <p:nvPr/>
        </p:nvSpPr>
        <p:spPr>
          <a:xfrm>
            <a:off x="9303932" y="279402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9897E2-CD75-05C3-C303-13B81A165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982" y="1341066"/>
            <a:ext cx="3771900" cy="77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0302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08190-2BA7-E5B3-728D-005C31662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768B9-DE8A-CCCD-EF46-B69DCC1A3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8D7F0-AAB3-B566-3BFB-DA3BB37C2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/analyze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speckit.analyze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– Resultados I</a:t>
            </a: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C390BE-3838-A6B4-0C11-FB5EEFAAB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BF422B-7408-B949-4ED2-91D403F260E5}"/>
              </a:ext>
            </a:extLst>
          </p:cNvPr>
          <p:cNvSpPr/>
          <p:nvPr/>
        </p:nvSpPr>
        <p:spPr>
          <a:xfrm>
            <a:off x="9303932" y="279402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5551A9-0296-C6CA-D43A-E854B2762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483" y="1913956"/>
            <a:ext cx="7953999" cy="468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255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A47E7-D1DE-471D-CAF8-47F6EAB0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F04B-4B9C-7AAC-4429-37D5D6619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5CE3B-BFA5-F189-2B2A-89DAB8849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/analyze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speckit.analyze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– Resultados II</a:t>
            </a:r>
          </a:p>
          <a:p>
            <a:pPr marL="0" indent="0">
              <a:buNone/>
            </a:pP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14958F-1BD0-2134-91F4-22904B29C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283F362-D21B-8E52-1FBD-8ADFDFCFD1AD}"/>
              </a:ext>
            </a:extLst>
          </p:cNvPr>
          <p:cNvSpPr/>
          <p:nvPr/>
        </p:nvSpPr>
        <p:spPr>
          <a:xfrm>
            <a:off x="9303932" y="279402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1C063E-859A-4419-9150-1E413CAF4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501" y="1901183"/>
            <a:ext cx="6315956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3745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4664E-BBA3-2ADA-57E9-7CACD29B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D7E37-CED1-FD6F-4EA3-1A16D296B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840C0-4572-DD0C-BF92-928B36E90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/analyze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speckit.analyze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– Resultados III</a:t>
            </a:r>
          </a:p>
          <a:p>
            <a:pPr marL="0" indent="0">
              <a:buNone/>
            </a:pP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A28289-19E6-B681-D62F-AB9DEF171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48D5979-9112-83A3-7074-17B2560AF958}"/>
              </a:ext>
            </a:extLst>
          </p:cNvPr>
          <p:cNvSpPr/>
          <p:nvPr/>
        </p:nvSpPr>
        <p:spPr>
          <a:xfrm>
            <a:off x="9303932" y="279402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05E98E-C0B6-ADDA-8693-D771FC359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574" y="2238105"/>
            <a:ext cx="6820852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435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7DDB0-9412-5816-8934-2AB616EF4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4BCA5-A9B2-9CA5-4A39-76C2F9A2C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C2290-BE27-57A4-F282-0C9C3315A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/analyze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speckit.analyze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– Resultados IV</a:t>
            </a:r>
          </a:p>
          <a:p>
            <a:pPr marL="0" indent="0">
              <a:buNone/>
            </a:pP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EFC203-124A-0322-4FEB-364A317A8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B2F4E7-C4D1-3783-504E-6D326C05B87C}"/>
              </a:ext>
            </a:extLst>
          </p:cNvPr>
          <p:cNvSpPr/>
          <p:nvPr/>
        </p:nvSpPr>
        <p:spPr>
          <a:xfrm>
            <a:off x="9303932" y="279402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7E29F8-50D1-A577-ABC5-F82831E8E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388" y="2209523"/>
            <a:ext cx="8945223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4313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1210D-4EA7-0BC8-A6A8-38FC1E5F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9754C-D7AA-CD76-13FF-CDB84807D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D1FB1-DCC6-F6B1-CF7A-964929EF0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/analyze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speckit.analyze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– Resultados V</a:t>
            </a:r>
          </a:p>
          <a:p>
            <a:pPr marL="0" indent="0">
              <a:buNone/>
            </a:pP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01CC24-D71B-E5C1-6B51-026DC93BC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6A27CE-E139-6CE4-6426-586E5DAE34C7}"/>
              </a:ext>
            </a:extLst>
          </p:cNvPr>
          <p:cNvSpPr/>
          <p:nvPr/>
        </p:nvSpPr>
        <p:spPr>
          <a:xfrm>
            <a:off x="9303932" y="279402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CDBC95-B658-C2BA-A94C-8B1E22A64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228" y="2457638"/>
            <a:ext cx="10635543" cy="307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9710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C99F8-6D31-BB9F-C447-6539ABE92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920ED-3670-31F7-38F6-2534B38B3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69F4E-DCA9-1696-2FB5-87321C4EC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/analyze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speckit.analyze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– Resultados VI</a:t>
            </a: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¿Qué hacer con los resultados?</a:t>
            </a:r>
          </a:p>
          <a:p>
            <a:r>
              <a:rPr lang="es-ES" dirty="0"/>
              <a:t>Indicarle al agente que solucione,  uno, todos o ninguno</a:t>
            </a:r>
          </a:p>
          <a:p>
            <a:pPr marL="0" indent="0">
              <a:buNone/>
            </a:pPr>
            <a:endParaRPr lang="es-ES" dirty="0"/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567776-4619-C33D-58BA-47BD332A3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B63EEF2-4280-BCE3-60A3-1D6C090C68E2}"/>
              </a:ext>
            </a:extLst>
          </p:cNvPr>
          <p:cNvSpPr/>
          <p:nvPr/>
        </p:nvSpPr>
        <p:spPr>
          <a:xfrm>
            <a:off x="9303932" y="279402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EF7EC-D183-0355-9DFC-3AC3448AD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46" y="3531709"/>
            <a:ext cx="10812507" cy="170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12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2701E-8A93-FCEB-DB22-4C52CF9C1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3226B-3608-685B-A347-8D5D68A88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A176E-6A8E-E835-AE2E-4A93C5DE7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/analyze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speckit.analyze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– Resultados VII</a:t>
            </a:r>
          </a:p>
          <a:p>
            <a:pPr marL="0" indent="0">
              <a:buNone/>
            </a:pPr>
            <a:endParaRPr lang="es-ES" dirty="0"/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8ACF49-EF79-94FA-6A92-DA47F4574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D5747E-BD9F-87C4-F669-1F7C53A0CDA8}"/>
              </a:ext>
            </a:extLst>
          </p:cNvPr>
          <p:cNvSpPr/>
          <p:nvPr/>
        </p:nvSpPr>
        <p:spPr>
          <a:xfrm>
            <a:off x="9303932" y="279402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64BBFD-D354-3210-E996-1C001C805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441" y="2219066"/>
            <a:ext cx="8907118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889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19D53-05D1-D916-9C60-5162309F8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332C0-D57B-A265-3A8A-922998732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A74F9-0099-F817-60C3-F69601CC8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/analyze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speckit.analyze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– Resultados IX</a:t>
            </a:r>
          </a:p>
          <a:p>
            <a:pPr marL="0" indent="0">
              <a:buNone/>
            </a:pPr>
            <a:endParaRPr lang="es-ES" dirty="0"/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C6768C-80D4-F4D7-55CD-F6CD7B1C5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2E86B41-94EF-761E-6BDC-EA0001F0096D}"/>
              </a:ext>
            </a:extLst>
          </p:cNvPr>
          <p:cNvSpPr/>
          <p:nvPr/>
        </p:nvSpPr>
        <p:spPr>
          <a:xfrm>
            <a:off x="9303932" y="279402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A7C19C-E513-8EC3-AC24-E3057FB32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474" y="2571750"/>
            <a:ext cx="10009342" cy="283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8652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4D778-7E1A-4B9A-AB4D-D23E3EDF6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546F0-2ABF-09FA-51C5-73EE11309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41D94-AD37-2709-CE13-2025A1A0F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/analyze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speckit.analyze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– Resultados IX</a:t>
            </a:r>
          </a:p>
          <a:p>
            <a:pPr marL="0" indent="0">
              <a:buNone/>
            </a:pPr>
            <a:endParaRPr lang="es-ES" dirty="0"/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955DED-CE2B-C408-7BE2-26076AC13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449535-3E9A-9688-E3AD-1B66BE984BF0}"/>
              </a:ext>
            </a:extLst>
          </p:cNvPr>
          <p:cNvSpPr/>
          <p:nvPr/>
        </p:nvSpPr>
        <p:spPr>
          <a:xfrm>
            <a:off x="9303932" y="279402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7940B5-1889-2413-C8BA-496F3DF34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474" y="2571750"/>
            <a:ext cx="10009342" cy="283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0791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DE63E-6193-8B4A-93D5-6945D721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09D8F-B51A-FBC8-DC26-262AAB37A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72E54-B540-8B6C-2285-6DC299C32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/implement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speckit.implement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¿Qué es?</a:t>
            </a:r>
          </a:p>
          <a:p>
            <a:pPr marL="0" indent="0">
              <a:buNone/>
            </a:pPr>
            <a:r>
              <a:rPr lang="es-ES" dirty="0"/>
              <a:t>El agente de IA ejecuta todas las tareas generando código funcional que cumple con </a:t>
            </a:r>
            <a:r>
              <a:rPr lang="es-ES" dirty="0" err="1"/>
              <a:t>spec</a:t>
            </a:r>
            <a:r>
              <a:rPr lang="es-ES" dirty="0"/>
              <a:t>, plan y constitution.</a:t>
            </a: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¿Qué hace?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Lee tasks.md, spec.md, plan.md and constitution.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Para cada tarea: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Entiende </a:t>
            </a:r>
            <a:r>
              <a:rPr lang="es-ES" dirty="0" err="1"/>
              <a:t>dependency</a:t>
            </a:r>
            <a:r>
              <a:rPr lang="es-ES" dirty="0"/>
              <a:t> </a:t>
            </a:r>
            <a:r>
              <a:rPr lang="es-ES" dirty="0" err="1"/>
              <a:t>ordering</a:t>
            </a:r>
            <a:endParaRPr lang="es-ES" dirty="0"/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Genera tests/</a:t>
            </a:r>
            <a:r>
              <a:rPr lang="es-ES" dirty="0" err="1"/>
              <a:t>code</a:t>
            </a:r>
            <a:r>
              <a:rPr lang="es-ES" dirty="0"/>
              <a:t> en orden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Valida contra criterios de aceptación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Mantiene trazabilidad (qué </a:t>
            </a:r>
            <a:r>
              <a:rPr lang="es-ES" dirty="0" err="1"/>
              <a:t>text</a:t>
            </a:r>
            <a:r>
              <a:rPr lang="es-ES" dirty="0"/>
              <a:t> &gt; qué </a:t>
            </a:r>
            <a:r>
              <a:rPr lang="es-ES" dirty="0" err="1"/>
              <a:t>task</a:t>
            </a:r>
            <a:r>
              <a:rPr lang="es-ES" dirty="0"/>
              <a:t> &gt; qué </a:t>
            </a:r>
            <a:r>
              <a:rPr lang="es-ES" dirty="0" err="1"/>
              <a:t>spec</a:t>
            </a:r>
            <a:r>
              <a:rPr lang="es-ES" dirty="0"/>
              <a:t> </a:t>
            </a:r>
            <a:r>
              <a:rPr lang="es-ES" dirty="0" err="1"/>
              <a:t>req</a:t>
            </a:r>
            <a:r>
              <a:rPr lang="es-ES" dirty="0"/>
              <a:t>.)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Crea </a:t>
            </a:r>
            <a:r>
              <a:rPr lang="es-ES" dirty="0" err="1"/>
              <a:t>PRs</a:t>
            </a:r>
            <a:r>
              <a:rPr lang="es-ES" dirty="0"/>
              <a:t>/</a:t>
            </a:r>
            <a:r>
              <a:rPr lang="es-ES" dirty="0" err="1"/>
              <a:t>commits</a:t>
            </a:r>
            <a:r>
              <a:rPr lang="es-ES" dirty="0"/>
              <a:t> con cambios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Produce código que cumple con: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Arquitectura del plan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Principios de </a:t>
            </a:r>
            <a:r>
              <a:rPr lang="es-ES" dirty="0" err="1"/>
              <a:t>constituion</a:t>
            </a:r>
            <a:endParaRPr lang="es-ES" dirty="0"/>
          </a:p>
          <a:p>
            <a:pPr marL="971550" lvl="1" indent="-514350">
              <a:buFont typeface="+mj-lt"/>
              <a:buAutoNum type="arabicPeriod"/>
            </a:pPr>
            <a:r>
              <a:rPr lang="es-ES" dirty="0"/>
              <a:t>Criterios de aceptación de las especificaciones</a:t>
            </a:r>
          </a:p>
          <a:p>
            <a:pPr marL="457200" lvl="1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E17EC6-7D74-6FC8-1933-D8ACDEFD5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61FACF-F07F-C3FF-CC5B-C6EF3D913FA6}"/>
              </a:ext>
            </a:extLst>
          </p:cNvPr>
          <p:cNvSpPr/>
          <p:nvPr/>
        </p:nvSpPr>
        <p:spPr>
          <a:xfrm>
            <a:off x="10513607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80924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43BC0-8785-1FFD-181D-E17BFCF01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909DC-4207-509A-1CDE-82EB84480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D6B31-C417-0C25-5B43-D8ED9256D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/implement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speckit.implement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¿Por qué importa?</a:t>
            </a:r>
          </a:p>
          <a:p>
            <a:pPr marL="0" indent="0">
              <a:buNone/>
            </a:pPr>
            <a:r>
              <a:rPr lang="es-ES" b="1" dirty="0"/>
              <a:t>Cierra el </a:t>
            </a:r>
            <a:r>
              <a:rPr lang="es-ES" b="1" dirty="0" err="1"/>
              <a:t>Loop</a:t>
            </a:r>
            <a:r>
              <a:rPr lang="es-ES" dirty="0"/>
              <a:t>: Spec &gt; Plan &gt; Tasks &gt; </a:t>
            </a:r>
            <a:r>
              <a:rPr lang="es-ES" dirty="0" err="1"/>
              <a:t>Code</a:t>
            </a:r>
            <a:r>
              <a:rPr lang="es-ES" dirty="0"/>
              <a:t>. Todo trazable, todo validable.</a:t>
            </a: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 crucial:</a:t>
            </a:r>
          </a:p>
          <a:p>
            <a:r>
              <a:rPr lang="es-ES" dirty="0"/>
              <a:t>No es ‘generar cualquier código’</a:t>
            </a:r>
          </a:p>
          <a:p>
            <a:r>
              <a:rPr lang="es-ES" dirty="0"/>
              <a:t>Es ‘generar código que cumple </a:t>
            </a:r>
            <a:r>
              <a:rPr lang="es-ES" dirty="0" err="1"/>
              <a:t>spec</a:t>
            </a:r>
            <a:r>
              <a:rPr lang="es-ES" dirty="0"/>
              <a:t>, plan y principios’</a:t>
            </a:r>
          </a:p>
          <a:p>
            <a:r>
              <a:rPr lang="es-ES" dirty="0"/>
              <a:t>Todo es auditable – cada línea de código puede ser trazado.</a:t>
            </a:r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25594F-20AE-9BFA-2D10-82073B14E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8B93EB-8AFE-467C-31D0-EF09A84EF00B}"/>
              </a:ext>
            </a:extLst>
          </p:cNvPr>
          <p:cNvSpPr/>
          <p:nvPr/>
        </p:nvSpPr>
        <p:spPr>
          <a:xfrm>
            <a:off x="10513607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73649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F23DC-C0A8-336A-29EA-F20BF2A0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6DBD-5B09-748A-CD12-A1202FF6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2FE6D-9115-F773-AAE1-703F3842B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/implement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speckit.implement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Resultados: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4C0C49-08F8-6E94-2B56-1D0C49C52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DB03FF-B920-2BEA-261A-33699DD5C249}"/>
              </a:ext>
            </a:extLst>
          </p:cNvPr>
          <p:cNvSpPr/>
          <p:nvPr/>
        </p:nvSpPr>
        <p:spPr>
          <a:xfrm>
            <a:off x="10513607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5DC4B6-3533-5D31-3484-109BD471E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096" y="2690692"/>
            <a:ext cx="8315391" cy="296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4090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96615-05ED-6E0C-195F-F0E034A67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0565D-FCAF-2137-7780-9B77AA038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B5B76-8A20-3047-E190-5142933AC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/implement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speckit.implement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Resultados: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D6BA56-8A04-71AE-08DC-71300B979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422E57-384E-6217-7E1B-567912E5F14F}"/>
              </a:ext>
            </a:extLst>
          </p:cNvPr>
          <p:cNvSpPr/>
          <p:nvPr/>
        </p:nvSpPr>
        <p:spPr>
          <a:xfrm>
            <a:off x="10513607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058696-9D1A-4468-161F-0D177F45C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17" y="2465593"/>
            <a:ext cx="3172268" cy="12765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A3DF3F-3D55-0499-4E51-B66D1AB307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0724"/>
          <a:stretch>
            <a:fillRect/>
          </a:stretch>
        </p:blipFill>
        <p:spPr>
          <a:xfrm>
            <a:off x="694618" y="3839565"/>
            <a:ext cx="4153608" cy="12670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CEBCD5-A7E5-E6C0-22A9-98F544EB9D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5172"/>
          <a:stretch>
            <a:fillRect/>
          </a:stretch>
        </p:blipFill>
        <p:spPr>
          <a:xfrm>
            <a:off x="694617" y="5265855"/>
            <a:ext cx="4153609" cy="1133633"/>
          </a:xfrm>
          <a:prstGeom prst="rect">
            <a:avLst/>
          </a:prstGeom>
        </p:spPr>
      </p:pic>
      <p:sp>
        <p:nvSpPr>
          <p:cNvPr id="13" name="Right Brace 12">
            <a:extLst>
              <a:ext uri="{FF2B5EF4-FFF2-40B4-BE49-F238E27FC236}">
                <a16:creationId xmlns:a16="http://schemas.microsoft.com/office/drawing/2014/main" id="{E8C8BF8F-9735-E5BF-DD33-78D402556C78}"/>
              </a:ext>
            </a:extLst>
          </p:cNvPr>
          <p:cNvSpPr/>
          <p:nvPr/>
        </p:nvSpPr>
        <p:spPr>
          <a:xfrm>
            <a:off x="5829300" y="2465593"/>
            <a:ext cx="561975" cy="393389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24940-EA5F-D8D5-0C40-93E523BEAD8B}"/>
              </a:ext>
            </a:extLst>
          </p:cNvPr>
          <p:cNvSpPr txBox="1"/>
          <p:nvPr/>
        </p:nvSpPr>
        <p:spPr>
          <a:xfrm>
            <a:off x="6810641" y="3839565"/>
            <a:ext cx="4410075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3200" dirty="0"/>
              <a:t>Subtareas creadas por /</a:t>
            </a:r>
            <a:r>
              <a:rPr lang="es-ES" sz="3200" dirty="0" err="1"/>
              <a:t>speckit.implement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14492393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0C3FC-382E-F716-F6F4-6A370E1F3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48D17-F8E8-9E52-F33A-AD4FA96D1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El Proceso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C63A6-F4E6-2733-51E1-FE6F7E61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365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/implement (/</a:t>
            </a:r>
            <a:r>
              <a:rPr lang="es-E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speckit.implement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None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Resultados: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8A4C39-DE59-2092-E272-EF41F7546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70237"/>
            <a:ext cx="7387414" cy="106166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D3B6E1-10E5-FBC3-3F34-2F1CE197F18F}"/>
              </a:ext>
            </a:extLst>
          </p:cNvPr>
          <p:cNvSpPr/>
          <p:nvPr/>
        </p:nvSpPr>
        <p:spPr>
          <a:xfrm>
            <a:off x="10513607" y="266701"/>
            <a:ext cx="1181100" cy="76835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E884D6-EB3A-8338-0286-55B5B4C9F8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515"/>
          <a:stretch>
            <a:fillRect/>
          </a:stretch>
        </p:blipFill>
        <p:spPr>
          <a:xfrm>
            <a:off x="3585749" y="2261815"/>
            <a:ext cx="5915851" cy="371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995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CF1CF-91F2-E6FA-E157-C24694998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9382-F485-A46A-857D-BF093D6DF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Depuración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A76EC-10E8-F20B-0C7F-6803C85E9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8091"/>
            <a:ext cx="10515600" cy="5041900"/>
          </a:xfrm>
        </p:spPr>
        <p:txBody>
          <a:bodyPr>
            <a:normAutofit/>
          </a:bodyPr>
          <a:lstStyle/>
          <a:p>
            <a:r>
              <a:rPr lang="es-ES" dirty="0"/>
              <a:t>Depuración y comprobación de resultados.</a:t>
            </a:r>
          </a:p>
          <a:p>
            <a:r>
              <a:rPr lang="es-ES" dirty="0"/>
              <a:t>Corrección de errores con modo plan/agente (GitHub </a:t>
            </a:r>
            <a:r>
              <a:rPr lang="es-ES" dirty="0" err="1"/>
              <a:t>Copilot</a:t>
            </a:r>
            <a:r>
              <a:rPr lang="es-ES" dirty="0"/>
              <a:t>)</a:t>
            </a:r>
          </a:p>
          <a:p>
            <a:r>
              <a:rPr lang="es-ES" dirty="0" err="1"/>
              <a:t>Commit</a:t>
            </a:r>
            <a:r>
              <a:rPr lang="es-ES" dirty="0"/>
              <a:t> / </a:t>
            </a:r>
            <a:r>
              <a:rPr lang="es-ES" dirty="0" err="1"/>
              <a:t>Push</a:t>
            </a:r>
            <a:r>
              <a:rPr lang="es-ES" dirty="0"/>
              <a:t> de la Rama</a:t>
            </a:r>
          </a:p>
          <a:p>
            <a:r>
              <a:rPr lang="es-ES" dirty="0"/>
              <a:t>Nuevo ciclo de trabajo con nueva especificación</a:t>
            </a:r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418999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45BB1-8AF7-335D-2E94-1CCBB0B81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9FF56-954B-4E77-057E-36A5E7FE4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Cuestiones adicionales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1BD20-0FBD-3567-E4CC-5CED43A8F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8091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Compatibilidad y coexistencia con otros agentes y </a:t>
            </a:r>
            <a:r>
              <a:rPr lang="es-ES" dirty="0" err="1"/>
              <a:t>skills</a:t>
            </a:r>
            <a:endParaRPr lang="es-ES" dirty="0"/>
          </a:p>
          <a:p>
            <a:pPr lvl="1"/>
            <a:r>
              <a:rPr lang="es-ES" dirty="0"/>
              <a:t>Spec Kit está diseñado explícitamente para ser </a:t>
            </a:r>
            <a:r>
              <a:rPr lang="es-ES" dirty="0" err="1"/>
              <a:t>agnósitco</a:t>
            </a:r>
            <a:r>
              <a:rPr lang="es-ES" dirty="0"/>
              <a:t> al agente de IA.</a:t>
            </a:r>
          </a:p>
          <a:p>
            <a:pPr lvl="1"/>
            <a:r>
              <a:rPr lang="es-ES" dirty="0"/>
              <a:t>No reemplaza ningún agente ni </a:t>
            </a:r>
            <a:r>
              <a:rPr lang="es-ES" dirty="0" err="1"/>
              <a:t>skill</a:t>
            </a:r>
            <a:r>
              <a:rPr lang="es-ES" dirty="0"/>
              <a:t> existente.</a:t>
            </a:r>
          </a:p>
          <a:p>
            <a:pPr lvl="1"/>
            <a:r>
              <a:rPr lang="es-ES" dirty="0"/>
              <a:t>Instala un conjunto de comandos en la estructura de directorios de cada agente.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5F120F-2D94-2985-9A50-9EB08CED4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046034"/>
              </p:ext>
            </p:extLst>
          </p:nvPr>
        </p:nvGraphicFramePr>
        <p:xfrm>
          <a:off x="2961966" y="3201034"/>
          <a:ext cx="6123040" cy="3291840"/>
        </p:xfrm>
        <a:graphic>
          <a:graphicData uri="http://schemas.openxmlformats.org/drawingml/2006/table">
            <a:tbl>
              <a:tblPr/>
              <a:tblGrid>
                <a:gridCol w="3061520">
                  <a:extLst>
                    <a:ext uri="{9D8B030D-6E8A-4147-A177-3AD203B41FA5}">
                      <a16:colId xmlns:a16="http://schemas.microsoft.com/office/drawing/2014/main" val="662288460"/>
                    </a:ext>
                  </a:extLst>
                </a:gridCol>
                <a:gridCol w="3061520">
                  <a:extLst>
                    <a:ext uri="{9D8B030D-6E8A-4147-A177-3AD203B41FA5}">
                      <a16:colId xmlns:a16="http://schemas.microsoft.com/office/drawing/2014/main" val="35150394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Agente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Integración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909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GitHub Copilot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latin typeface="Courier New" panose="02070309020205020404" pitchFamily="49" charset="0"/>
                        </a:rPr>
                        <a:t>.github/agents/</a:t>
                      </a:r>
                      <a:endParaRPr lang="es-E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737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Claude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latin typeface="Courier New" panose="02070309020205020404" pitchFamily="49" charset="0"/>
                        </a:rPr>
                        <a:t>.claude/commands/</a:t>
                      </a:r>
                      <a:endParaRPr lang="es-E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71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Cursor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latin typeface="Courier New" panose="02070309020205020404" pitchFamily="49" charset="0"/>
                        </a:rPr>
                        <a:t>.cursor/commands/</a:t>
                      </a:r>
                      <a:endParaRPr lang="es-E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40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Gemini CLI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latin typeface="Courier New" panose="02070309020205020404" pitchFamily="49" charset="0"/>
                        </a:rPr>
                        <a:t>.gemini/commands/</a:t>
                      </a:r>
                      <a:endParaRPr lang="es-E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063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Windsurf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latin typeface="Courier New" panose="02070309020205020404" pitchFamily="49" charset="0"/>
                        </a:rPr>
                        <a:t>.windsurf/workflows/</a:t>
                      </a:r>
                      <a:endParaRPr lang="es-E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978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Amazon Q Developer CLI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latin typeface="Courier New" panose="02070309020205020404" pitchFamily="49" charset="0"/>
                        </a:rPr>
                        <a:t>.amazonq/prompts/</a:t>
                      </a:r>
                      <a:endParaRPr lang="es-E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083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Codex CLI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>
                          <a:latin typeface="Courier New" panose="02070309020205020404" pitchFamily="49" charset="0"/>
                        </a:rPr>
                        <a:t>.codex/commands/</a:t>
                      </a:r>
                      <a:endParaRPr lang="es-E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510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… y más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ver README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997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99347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3D9AA-FEC9-2FEE-F80E-8ED29D062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97F79-C1FB-8972-05A9-D77D5E64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Cuestiones adicionales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CC98E-3740-62BF-6209-B9D2E140F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8091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Integración con </a:t>
            </a:r>
            <a:r>
              <a:rPr lang="es-ES" dirty="0" err="1"/>
              <a:t>Confluence</a:t>
            </a:r>
            <a:r>
              <a:rPr lang="es-ES" dirty="0"/>
              <a:t> vía MCP (documentación) </a:t>
            </a:r>
          </a:p>
          <a:p>
            <a:r>
              <a:rPr lang="es-ES" dirty="0"/>
              <a:t>Spec Kit no dispone de un conector nativo con </a:t>
            </a:r>
            <a:r>
              <a:rPr lang="es-ES" dirty="0" err="1"/>
              <a:t>Confluence</a:t>
            </a:r>
            <a:r>
              <a:rPr lang="es-ES" dirty="0"/>
              <a:t>, no obstante:</a:t>
            </a:r>
          </a:p>
          <a:p>
            <a:pPr lvl="1"/>
            <a:r>
              <a:rPr lang="es-ES" dirty="0"/>
              <a:t>Opción A: MCP Server</a:t>
            </a:r>
          </a:p>
          <a:p>
            <a:pPr lvl="2"/>
            <a:r>
              <a:rPr lang="es-ES" dirty="0"/>
              <a:t>MCP Server: Configurar un MCP server de </a:t>
            </a:r>
            <a:r>
              <a:rPr lang="es-ES" dirty="0" err="1"/>
              <a:t>Confluence</a:t>
            </a:r>
            <a:endParaRPr lang="es-ES" dirty="0"/>
          </a:p>
          <a:p>
            <a:pPr lvl="2"/>
            <a:r>
              <a:rPr lang="es-ES" dirty="0"/>
              <a:t>El agente de IA recibirá historias de usuario como contexto disponible</a:t>
            </a:r>
          </a:p>
          <a:p>
            <a:pPr lvl="2"/>
            <a:r>
              <a:rPr lang="es-ES" dirty="0"/>
              <a:t>Pasar contexto directamente a /</a:t>
            </a:r>
            <a:r>
              <a:rPr lang="es-ES" dirty="0" err="1"/>
              <a:t>speckit.specify</a:t>
            </a:r>
            <a:r>
              <a:rPr lang="es-ES" dirty="0"/>
              <a:t> </a:t>
            </a:r>
          </a:p>
          <a:p>
            <a:pPr marL="457200" lvl="1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9F7A8E-CD86-B600-9859-50EE75684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604" y="4247693"/>
            <a:ext cx="8278792" cy="164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787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AFEEE-4977-2560-75A7-2F06E691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2E61D-9428-99A3-3874-F7393C1D6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Cuestiones adicionales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6AF84-BB38-F8E5-4C06-C275B0B99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8091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Integración con </a:t>
            </a:r>
            <a:r>
              <a:rPr lang="es-ES" dirty="0" err="1"/>
              <a:t>Confluence</a:t>
            </a:r>
            <a:r>
              <a:rPr lang="es-ES" dirty="0"/>
              <a:t> vía MCP (documentación) </a:t>
            </a:r>
          </a:p>
          <a:p>
            <a:r>
              <a:rPr lang="es-ES" dirty="0"/>
              <a:t>Spec Kit no dispone de un conector nativo con </a:t>
            </a:r>
            <a:r>
              <a:rPr lang="es-ES" dirty="0" err="1"/>
              <a:t>Confluence</a:t>
            </a:r>
            <a:r>
              <a:rPr lang="es-ES" dirty="0"/>
              <a:t>, no obstante:</a:t>
            </a:r>
          </a:p>
          <a:p>
            <a:pPr lvl="1"/>
            <a:r>
              <a:rPr lang="es-ES" dirty="0"/>
              <a:t>Opción B: </a:t>
            </a:r>
            <a:r>
              <a:rPr lang="es-ES" dirty="0" err="1"/>
              <a:t>Extension</a:t>
            </a:r>
            <a:r>
              <a:rPr lang="es-ES" dirty="0"/>
              <a:t> Hook Personalizado</a:t>
            </a:r>
          </a:p>
          <a:p>
            <a:pPr lvl="2"/>
            <a:r>
              <a:rPr lang="es-ES" dirty="0"/>
              <a:t>Sistema de </a:t>
            </a:r>
            <a:r>
              <a:rPr lang="es-ES" dirty="0" err="1"/>
              <a:t>hooks</a:t>
            </a:r>
            <a:r>
              <a:rPr lang="es-ES" dirty="0"/>
              <a:t> en .</a:t>
            </a:r>
            <a:r>
              <a:rPr lang="es-ES" dirty="0" err="1"/>
              <a:t>specify</a:t>
            </a:r>
            <a:r>
              <a:rPr lang="es-ES" dirty="0"/>
              <a:t>/</a:t>
            </a:r>
            <a:r>
              <a:rPr lang="es-ES" dirty="0" err="1"/>
              <a:t>extensions.yml</a:t>
            </a:r>
            <a:endParaRPr lang="es-ES" dirty="0"/>
          </a:p>
          <a:p>
            <a:pPr lvl="2"/>
            <a:r>
              <a:rPr lang="es-ES" dirty="0"/>
              <a:t>Crear </a:t>
            </a:r>
            <a:r>
              <a:rPr lang="es-ES" dirty="0" err="1"/>
              <a:t>hook</a:t>
            </a:r>
            <a:r>
              <a:rPr lang="es-ES" dirty="0"/>
              <a:t> ‘</a:t>
            </a:r>
            <a:r>
              <a:rPr lang="es-ES" dirty="0" err="1"/>
              <a:t>before_specify</a:t>
            </a:r>
            <a:r>
              <a:rPr lang="es-ES" dirty="0"/>
              <a:t>’ que:</a:t>
            </a:r>
          </a:p>
          <a:p>
            <a:pPr lvl="3"/>
            <a:r>
              <a:rPr lang="es-ES" dirty="0"/>
              <a:t>Llame a la API de </a:t>
            </a:r>
            <a:r>
              <a:rPr lang="es-ES" dirty="0" err="1"/>
              <a:t>Conflunce</a:t>
            </a:r>
            <a:endParaRPr lang="es-ES" dirty="0"/>
          </a:p>
          <a:p>
            <a:pPr lvl="3"/>
            <a:r>
              <a:rPr lang="es-ES" dirty="0"/>
              <a:t>Exporte las historias al formato </a:t>
            </a:r>
            <a:r>
              <a:rPr lang="es-ES" dirty="0" err="1"/>
              <a:t>Markdown</a:t>
            </a:r>
            <a:endParaRPr lang="es-ES" dirty="0"/>
          </a:p>
          <a:p>
            <a:pPr lvl="3"/>
            <a:r>
              <a:rPr lang="es-ES" dirty="0"/>
              <a:t>Las inyecte como argumento al comando /</a:t>
            </a:r>
            <a:r>
              <a:rPr lang="es-ES" dirty="0" err="1"/>
              <a:t>speckit.specify</a:t>
            </a:r>
            <a:endParaRPr lang="es-ES" dirty="0"/>
          </a:p>
          <a:p>
            <a:pPr marL="457200" lvl="1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5572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3DC0C-0F3C-09D0-25B9-05B29C9DD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87D7C-0081-B12B-D964-3895CDDCC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Cuestiones adicionales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58CFC-F03B-AE4F-AD4A-79DC3F0B7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8091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Integración con </a:t>
            </a:r>
            <a:r>
              <a:rPr lang="es-ES" dirty="0" err="1"/>
              <a:t>Confluence</a:t>
            </a:r>
            <a:r>
              <a:rPr lang="es-ES" dirty="0"/>
              <a:t> vía MCP (documentación) </a:t>
            </a:r>
          </a:p>
          <a:p>
            <a:r>
              <a:rPr lang="es-ES" dirty="0"/>
              <a:t>Spec Kit no dispone de un conector nativo con </a:t>
            </a:r>
            <a:r>
              <a:rPr lang="es-ES" dirty="0" err="1"/>
              <a:t>Confluence</a:t>
            </a:r>
            <a:r>
              <a:rPr lang="es-ES" dirty="0"/>
              <a:t>, no obstante:</a:t>
            </a:r>
          </a:p>
          <a:p>
            <a:pPr lvl="1"/>
            <a:r>
              <a:rPr lang="es-ES" dirty="0"/>
              <a:t>Opción C: </a:t>
            </a:r>
            <a:r>
              <a:rPr lang="es-ES" dirty="0" err="1"/>
              <a:t>Export</a:t>
            </a:r>
            <a:r>
              <a:rPr lang="es-ES" dirty="0"/>
              <a:t> Manual</a:t>
            </a:r>
          </a:p>
          <a:p>
            <a:pPr lvl="2"/>
            <a:r>
              <a:rPr lang="es-ES" dirty="0"/>
              <a:t>Copiar y pegar como argumento de /</a:t>
            </a:r>
            <a:r>
              <a:rPr lang="es-ES" dirty="0" err="1"/>
              <a:t>speckit.specify</a:t>
            </a:r>
            <a:endParaRPr lang="es-ES" dirty="0"/>
          </a:p>
          <a:p>
            <a:pPr lvl="2"/>
            <a:endParaRPr lang="es-ES" dirty="0"/>
          </a:p>
          <a:p>
            <a:pPr lvl="1"/>
            <a:r>
              <a:rPr lang="es-ES" dirty="0"/>
              <a:t>Opción D: Extensión de la comunidad</a:t>
            </a:r>
          </a:p>
          <a:p>
            <a:pPr lvl="2"/>
            <a:r>
              <a:rPr lang="es-ES" dirty="0"/>
              <a:t>Consultar catálogo de extensiones de la comunidad por si hubiera alguna integración ya hecha</a:t>
            </a:r>
          </a:p>
          <a:p>
            <a:pPr marL="914400" lvl="2" indent="0">
              <a:buNone/>
            </a:pPr>
            <a:endParaRPr lang="es-ES" dirty="0"/>
          </a:p>
          <a:p>
            <a:pPr marL="457200" lvl="1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D35541-2361-B047-7A01-3E46CC203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952" y="5144566"/>
            <a:ext cx="6868484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8154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562D1-E566-FC1B-7635-1DFAC0B5B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6A9FC-1CA4-2B6A-D249-5E4115517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Cuestiones adicionales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94CF7-7CB5-6BB5-9465-9BD091D36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8091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Estructura de la Constitución. Más de un solo fichero</a:t>
            </a:r>
          </a:p>
          <a:p>
            <a:r>
              <a:rPr lang="es-ES" dirty="0"/>
              <a:t>Por defecto, el comando /</a:t>
            </a:r>
            <a:r>
              <a:rPr lang="es-ES" dirty="0" err="1"/>
              <a:t>speckit.constitution</a:t>
            </a:r>
            <a:r>
              <a:rPr lang="es-ES" dirty="0"/>
              <a:t> opera sobre un único fichero (</a:t>
            </a:r>
            <a:r>
              <a:rPr lang="es-ES" dirty="0" err="1"/>
              <a:t>memory</a:t>
            </a:r>
            <a:r>
              <a:rPr lang="es-ES" dirty="0"/>
              <a:t>/</a:t>
            </a:r>
            <a:r>
              <a:rPr lang="es-ES" dirty="0" err="1"/>
              <a:t>constitution</a:t>
            </a:r>
            <a:r>
              <a:rPr lang="es-ES" dirty="0"/>
              <a:t>). No obstante, se puede estructurar con múltiples documentos:</a:t>
            </a:r>
          </a:p>
          <a:p>
            <a:pPr marL="914400" lvl="2" indent="0">
              <a:buNone/>
            </a:pPr>
            <a:endParaRPr lang="es-ES" dirty="0"/>
          </a:p>
          <a:p>
            <a:pPr marL="457200" lvl="1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EE254A-5310-A84B-2E0B-91F35A30A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863" y="3273460"/>
            <a:ext cx="6792273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982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FFF00-9AE8-5597-9077-744ECCDE6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7B2A-84CF-4F76-3FCA-9C098CA7D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s-ES" dirty="0"/>
              <a:t>Cuestiones adicionales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C467D-44C8-5C56-0719-E49663197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8091"/>
            <a:ext cx="10515600" cy="5041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Estructura de la Constitución. Más de un solo fichero</a:t>
            </a:r>
          </a:p>
          <a:p>
            <a:r>
              <a:rPr lang="es-ES" dirty="0"/>
              <a:t>Lo que NO hace el comando /</a:t>
            </a:r>
            <a:r>
              <a:rPr lang="es-ES" dirty="0" err="1"/>
              <a:t>speckit.constitution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El comando no genera automáticamente </a:t>
            </a:r>
            <a:r>
              <a:rPr lang="es-ES" dirty="0" err="1"/>
              <a:t>sub-ficheros</a:t>
            </a:r>
            <a:r>
              <a:rPr lang="es-ES" dirty="0"/>
              <a:t> referenciados, tendrás que:</a:t>
            </a:r>
          </a:p>
          <a:p>
            <a:pPr lvl="2"/>
            <a:r>
              <a:rPr lang="es-ES" dirty="0"/>
              <a:t>Crear los ficheros que quieras referenciar</a:t>
            </a:r>
          </a:p>
          <a:p>
            <a:pPr lvl="2"/>
            <a:r>
              <a:rPr lang="es-ES" dirty="0"/>
              <a:t>Referenciarlos desde constitution.md</a:t>
            </a:r>
          </a:p>
          <a:p>
            <a:pPr lvl="2"/>
            <a:r>
              <a:rPr lang="es-ES" dirty="0" err="1"/>
              <a:t>Ejectuar</a:t>
            </a:r>
            <a:r>
              <a:rPr lang="es-ES" dirty="0"/>
              <a:t> /</a:t>
            </a:r>
            <a:r>
              <a:rPr lang="es-ES" dirty="0" err="1"/>
              <a:t>speckit.constitution</a:t>
            </a:r>
            <a:r>
              <a:rPr lang="es-ES" dirty="0"/>
              <a:t> para mantener el fichero maestro actualizado.</a:t>
            </a:r>
          </a:p>
          <a:p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D845B0-149E-A5AA-FC26-753C83A67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956" y="4604809"/>
            <a:ext cx="8616087" cy="122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21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1846</TotalTime>
  <Words>1937</Words>
  <Application>Microsoft Office PowerPoint</Application>
  <PresentationFormat>Widescreen</PresentationFormat>
  <Paragraphs>316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6" baseType="lpstr">
      <vt:lpstr>Aptos</vt:lpstr>
      <vt:lpstr>Aptos Display</vt:lpstr>
      <vt:lpstr>Arial</vt:lpstr>
      <vt:lpstr>Courier New</vt:lpstr>
      <vt:lpstr>Office Theme</vt:lpstr>
      <vt:lpstr>ROMEU IT</vt:lpstr>
      <vt:lpstr>ÍNDICE</vt:lpstr>
      <vt:lpstr>SPEC KIT</vt:lpstr>
      <vt:lpstr>¿Qué es Spec Kit?</vt:lpstr>
      <vt:lpstr>¿Cómo se instala?</vt:lpstr>
      <vt:lpstr>Ejecutamos comando de instalación</vt:lpstr>
      <vt:lpstr>Comprobamos la versión (specify versión)</vt:lpstr>
      <vt:lpstr>Inicializamos con copilot (specify init . –ai copilot)</vt:lpstr>
      <vt:lpstr>PowerPoint Presentation</vt:lpstr>
      <vt:lpstr>Video guía recomendada por los Dev’s</vt:lpstr>
      <vt:lpstr>¿Cómo funciona? (Github Copilot Visual Code)</vt:lpstr>
      <vt:lpstr>¿Cómo funciona? (Github Copilot Visual Code)</vt:lpstr>
      <vt:lpstr>¿Cómo funciona? (Proceso)</vt:lpstr>
      <vt:lpstr>Caso de estudio: PaymentHub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El Proceso</vt:lpstr>
      <vt:lpstr>Depuración</vt:lpstr>
      <vt:lpstr>Cuestiones adicionales</vt:lpstr>
      <vt:lpstr>Cuestiones adicionales</vt:lpstr>
      <vt:lpstr>Cuestiones adicionales</vt:lpstr>
      <vt:lpstr>Cuestiones adicionales</vt:lpstr>
      <vt:lpstr>Cuestiones adicionales</vt:lpstr>
      <vt:lpstr>Cuestiones adicionales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Derek Shahrasebi</dc:creator>
  <cp:lastModifiedBy>Derek Shahrasebi</cp:lastModifiedBy>
  <cp:revision>3</cp:revision>
  <dcterms:created xsi:type="dcterms:W3CDTF">2026-04-27T06:32:54Z</dcterms:created>
  <dcterms:modified xsi:type="dcterms:W3CDTF">2026-05-04T13:47:01Z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4b9f85e-fc23-4df8-afde-0412d57c9885_Enabled">
    <vt:lpwstr>true</vt:lpwstr>
  </property>
  <property fmtid="{D5CDD505-2E9C-101B-9397-08002B2CF9AE}" pid="3" name="MSIP_Label_74b9f85e-fc23-4df8-afde-0412d57c9885_SetDate">
    <vt:lpwstr>2026-04-27T11:02:10Z</vt:lpwstr>
  </property>
  <property fmtid="{D5CDD505-2E9C-101B-9397-08002B2CF9AE}" pid="4" name="MSIP_Label_74b9f85e-fc23-4df8-afde-0412d57c9885_Method">
    <vt:lpwstr>Standard</vt:lpwstr>
  </property>
  <property fmtid="{D5CDD505-2E9C-101B-9397-08002B2CF9AE}" pid="5" name="MSIP_Label_74b9f85e-fc23-4df8-afde-0412d57c9885_Name">
    <vt:lpwstr>Sin Clasificar</vt:lpwstr>
  </property>
  <property fmtid="{D5CDD505-2E9C-101B-9397-08002B2CF9AE}" pid="6" name="MSIP_Label_74b9f85e-fc23-4df8-afde-0412d57c9885_SiteId">
    <vt:lpwstr>f4716c71-0bcb-4d17-b242-72328973bc32</vt:lpwstr>
  </property>
  <property fmtid="{D5CDD505-2E9C-101B-9397-08002B2CF9AE}" pid="7" name="MSIP_Label_74b9f85e-fc23-4df8-afde-0412d57c9885_ActionId">
    <vt:lpwstr>4fdf3c1c-902e-48bf-87f0-72637336ebf8</vt:lpwstr>
  </property>
  <property fmtid="{D5CDD505-2E9C-101B-9397-08002B2CF9AE}" pid="8" name="MSIP_Label_74b9f85e-fc23-4df8-afde-0412d57c9885_ContentBits">
    <vt:lpwstr>0</vt:lpwstr>
  </property>
  <property fmtid="{D5CDD505-2E9C-101B-9397-08002B2CF9AE}" pid="9" name="MSIP_Label_74b9f85e-fc23-4df8-afde-0412d57c9885_Tag">
    <vt:lpwstr>10, 3, 0, 1</vt:lpwstr>
  </property>
</Properties>
</file>